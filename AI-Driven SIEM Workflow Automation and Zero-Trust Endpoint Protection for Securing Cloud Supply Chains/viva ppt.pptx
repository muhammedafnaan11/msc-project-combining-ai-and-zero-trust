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1"/>
  </p:sldMasterIdLst>
  <p:sldIdLst>
    <p:sldId id="256" r:id="rId2"/>
    <p:sldId id="257" r:id="rId3"/>
    <p:sldId id="258" r:id="rId4"/>
    <p:sldId id="259" r:id="rId5"/>
    <p:sldId id="260" r:id="rId6"/>
    <p:sldId id="262" r:id="rId7"/>
    <p:sldId id="277" r:id="rId8"/>
    <p:sldId id="278" r:id="rId9"/>
    <p:sldId id="276" r:id="rId10"/>
    <p:sldId id="265" r:id="rId11"/>
    <p:sldId id="266" r:id="rId12"/>
    <p:sldId id="267" r:id="rId13"/>
    <p:sldId id="271" r:id="rId14"/>
    <p:sldId id="272" r:id="rId15"/>
    <p:sldId id="273" r:id="rId16"/>
    <p:sldId id="274" r:id="rId17"/>
    <p:sldId id="275" r:id="rId18"/>
    <p:sldId id="268" r:id="rId19"/>
    <p:sldId id="269" r:id="rId20"/>
    <p:sldId id="270"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25E179-3EA9-44EB-96EF-537EB596D311}" v="101" dt="2026-08-19T12:31:16.5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49" autoAdjust="0"/>
    <p:restoredTop sz="95706" autoAdjust="0"/>
  </p:normalViewPr>
  <p:slideViewPr>
    <p:cSldViewPr snapToGrid="0">
      <p:cViewPr varScale="1">
        <p:scale>
          <a:sx n="95" d="100"/>
          <a:sy n="95" d="100"/>
        </p:scale>
        <p:origin x="173"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hammed Afnan" userId="1bfa78234b125e04" providerId="LiveId" clId="{DBC55618-76CA-41E9-A68D-B783A298492E}"/>
    <pc:docChg chg="undo custSel addSld delSld modSld sldOrd">
      <pc:chgData name="muhammed Afnan" userId="1bfa78234b125e04" providerId="LiveId" clId="{DBC55618-76CA-41E9-A68D-B783A298492E}" dt="2026-08-19T12:31:16.543" v="1924" actId="255"/>
      <pc:docMkLst>
        <pc:docMk/>
      </pc:docMkLst>
      <pc:sldChg chg="modSp mod modAnim">
        <pc:chgData name="muhammed Afnan" userId="1bfa78234b125e04" providerId="LiveId" clId="{DBC55618-76CA-41E9-A68D-B783A298492E}" dt="2026-08-19T12:29:55.531" v="1920" actId="27636"/>
        <pc:sldMkLst>
          <pc:docMk/>
          <pc:sldMk cId="2192767779" sldId="258"/>
        </pc:sldMkLst>
        <pc:spChg chg="mod">
          <ac:chgData name="muhammed Afnan" userId="1bfa78234b125e04" providerId="LiveId" clId="{DBC55618-76CA-41E9-A68D-B783A298492E}" dt="2026-08-19T12:14:20.409" v="1897" actId="1076"/>
          <ac:spMkLst>
            <pc:docMk/>
            <pc:sldMk cId="2192767779" sldId="258"/>
            <ac:spMk id="2" creationId="{7118F4F1-516B-920B-B4DF-E66686F19315}"/>
          </ac:spMkLst>
        </pc:spChg>
        <pc:spChg chg="mod">
          <ac:chgData name="muhammed Afnan" userId="1bfa78234b125e04" providerId="LiveId" clId="{DBC55618-76CA-41E9-A68D-B783A298492E}" dt="2026-08-19T12:29:55.531" v="1920" actId="27636"/>
          <ac:spMkLst>
            <pc:docMk/>
            <pc:sldMk cId="2192767779" sldId="258"/>
            <ac:spMk id="3" creationId="{C9B7F2E9-AF73-64D7-6DFC-AF9FC73B16D6}"/>
          </ac:spMkLst>
        </pc:spChg>
      </pc:sldChg>
      <pc:sldChg chg="modSp mod modAnim">
        <pc:chgData name="muhammed Afnan" userId="1bfa78234b125e04" providerId="LiveId" clId="{DBC55618-76CA-41E9-A68D-B783A298492E}" dt="2026-08-19T12:27:44.053" v="1906" actId="255"/>
        <pc:sldMkLst>
          <pc:docMk/>
          <pc:sldMk cId="1265364531" sldId="259"/>
        </pc:sldMkLst>
        <pc:spChg chg="mod">
          <ac:chgData name="muhammed Afnan" userId="1bfa78234b125e04" providerId="LiveId" clId="{DBC55618-76CA-41E9-A68D-B783A298492E}" dt="2026-08-19T12:27:15.798" v="1902" actId="27636"/>
          <ac:spMkLst>
            <pc:docMk/>
            <pc:sldMk cId="1265364531" sldId="259"/>
            <ac:spMk id="2" creationId="{1D30889A-63E5-46EF-E395-4A8C211D7487}"/>
          </ac:spMkLst>
        </pc:spChg>
        <pc:spChg chg="mod">
          <ac:chgData name="muhammed Afnan" userId="1bfa78234b125e04" providerId="LiveId" clId="{DBC55618-76CA-41E9-A68D-B783A298492E}" dt="2026-08-19T12:27:44.053" v="1906" actId="255"/>
          <ac:spMkLst>
            <pc:docMk/>
            <pc:sldMk cId="1265364531" sldId="259"/>
            <ac:spMk id="3" creationId="{8E9EA8AE-B428-4072-12D6-50DD101B0414}"/>
          </ac:spMkLst>
        </pc:spChg>
      </pc:sldChg>
      <pc:sldChg chg="addSp delSp modSp mod addAnim delAnim">
        <pc:chgData name="muhammed Afnan" userId="1bfa78234b125e04" providerId="LiveId" clId="{DBC55618-76CA-41E9-A68D-B783A298492E}" dt="2026-08-19T12:28:00.114" v="1907" actId="255"/>
        <pc:sldMkLst>
          <pc:docMk/>
          <pc:sldMk cId="162556694" sldId="260"/>
        </pc:sldMkLst>
        <pc:spChg chg="add mod">
          <ac:chgData name="muhammed Afnan" userId="1bfa78234b125e04" providerId="LiveId" clId="{DBC55618-76CA-41E9-A68D-B783A298492E}" dt="2026-08-19T12:28:00.114" v="1907" actId="255"/>
          <ac:spMkLst>
            <pc:docMk/>
            <pc:sldMk cId="162556694" sldId="260"/>
            <ac:spMk id="6" creationId="{113F71CD-6520-7CF2-8E12-43F61F471920}"/>
          </ac:spMkLst>
        </pc:spChg>
      </pc:sldChg>
      <pc:sldChg chg="modSp mod modAnim">
        <pc:chgData name="muhammed Afnan" userId="1bfa78234b125e04" providerId="LiveId" clId="{DBC55618-76CA-41E9-A68D-B783A298492E}" dt="2026-08-19T12:29:39.897" v="1918" actId="27636"/>
        <pc:sldMkLst>
          <pc:docMk/>
          <pc:sldMk cId="3400642788" sldId="262"/>
        </pc:sldMkLst>
        <pc:spChg chg="mod">
          <ac:chgData name="muhammed Afnan" userId="1bfa78234b125e04" providerId="LiveId" clId="{DBC55618-76CA-41E9-A68D-B783A298492E}" dt="2026-08-19T12:28:09.938" v="1908" actId="1076"/>
          <ac:spMkLst>
            <pc:docMk/>
            <pc:sldMk cId="3400642788" sldId="262"/>
            <ac:spMk id="2" creationId="{AD7036FF-6953-F72A-7855-BEC18555C713}"/>
          </ac:spMkLst>
        </pc:spChg>
        <pc:spChg chg="mod">
          <ac:chgData name="muhammed Afnan" userId="1bfa78234b125e04" providerId="LiveId" clId="{DBC55618-76CA-41E9-A68D-B783A298492E}" dt="2026-08-19T12:29:39.897" v="1918" actId="27636"/>
          <ac:spMkLst>
            <pc:docMk/>
            <pc:sldMk cId="3400642788" sldId="262"/>
            <ac:spMk id="3" creationId="{A344E289-670F-E2A2-5BAE-DE1EF9E1899C}"/>
          </ac:spMkLst>
        </pc:spChg>
      </pc:sldChg>
      <pc:sldChg chg="modSp">
        <pc:chgData name="muhammed Afnan" userId="1bfa78234b125e04" providerId="LiveId" clId="{DBC55618-76CA-41E9-A68D-B783A298492E}" dt="2026-08-19T12:30:41.163" v="1921" actId="255"/>
        <pc:sldMkLst>
          <pc:docMk/>
          <pc:sldMk cId="2764084451" sldId="267"/>
        </pc:sldMkLst>
        <pc:spChg chg="mod">
          <ac:chgData name="muhammed Afnan" userId="1bfa78234b125e04" providerId="LiveId" clId="{DBC55618-76CA-41E9-A68D-B783A298492E}" dt="2026-08-19T12:30:41.163" v="1921" actId="255"/>
          <ac:spMkLst>
            <pc:docMk/>
            <pc:sldMk cId="2764084451" sldId="267"/>
            <ac:spMk id="3" creationId="{16E6B23B-3A6C-8546-8C51-09352E9C802D}"/>
          </ac:spMkLst>
        </pc:spChg>
      </pc:sldChg>
      <pc:sldChg chg="modSp">
        <pc:chgData name="muhammed Afnan" userId="1bfa78234b125e04" providerId="LiveId" clId="{DBC55618-76CA-41E9-A68D-B783A298492E}" dt="2026-08-19T12:31:16.543" v="1924" actId="255"/>
        <pc:sldMkLst>
          <pc:docMk/>
          <pc:sldMk cId="1160486834" sldId="268"/>
        </pc:sldMkLst>
        <pc:spChg chg="mod">
          <ac:chgData name="muhammed Afnan" userId="1bfa78234b125e04" providerId="LiveId" clId="{DBC55618-76CA-41E9-A68D-B783A298492E}" dt="2026-08-19T12:31:16.543" v="1924" actId="255"/>
          <ac:spMkLst>
            <pc:docMk/>
            <pc:sldMk cId="1160486834" sldId="268"/>
            <ac:spMk id="3" creationId="{89F31591-9DC5-5993-51B2-5CA1DC7493F4}"/>
          </ac:spMkLst>
        </pc:spChg>
      </pc:sldChg>
      <pc:sldChg chg="modSp mod">
        <pc:chgData name="muhammed Afnan" userId="1bfa78234b125e04" providerId="LiveId" clId="{DBC55618-76CA-41E9-A68D-B783A298492E}" dt="2026-08-19T12:31:05.135" v="1923" actId="1076"/>
        <pc:sldMkLst>
          <pc:docMk/>
          <pc:sldMk cId="1377515792" sldId="269"/>
        </pc:sldMkLst>
        <pc:spChg chg="mod">
          <ac:chgData name="muhammed Afnan" userId="1bfa78234b125e04" providerId="LiveId" clId="{DBC55618-76CA-41E9-A68D-B783A298492E}" dt="2026-08-19T12:31:05.135" v="1923" actId="1076"/>
          <ac:spMkLst>
            <pc:docMk/>
            <pc:sldMk cId="1377515792" sldId="269"/>
            <ac:spMk id="3" creationId="{F44B1514-1BBE-7B39-2038-739F81CBF933}"/>
          </ac:spMkLst>
        </pc:spChg>
      </pc:sldChg>
      <pc:sldChg chg="modSp new mod ord">
        <pc:chgData name="muhammed Afnan" userId="1bfa78234b125e04" providerId="LiveId" clId="{DBC55618-76CA-41E9-A68D-B783A298492E}" dt="2026-08-09T15:32:31.490" v="212" actId="255"/>
        <pc:sldMkLst>
          <pc:docMk/>
          <pc:sldMk cId="2329917184" sldId="270"/>
        </pc:sldMkLst>
        <pc:spChg chg="mod">
          <ac:chgData name="muhammed Afnan" userId="1bfa78234b125e04" providerId="LiveId" clId="{DBC55618-76CA-41E9-A68D-B783A298492E}" dt="2026-08-09T15:29:51.479" v="192" actId="1076"/>
          <ac:spMkLst>
            <pc:docMk/>
            <pc:sldMk cId="2329917184" sldId="270"/>
            <ac:spMk id="2" creationId="{30799D3E-1EA3-55B5-B6DE-59864D24AFCB}"/>
          </ac:spMkLst>
        </pc:spChg>
        <pc:spChg chg="mod">
          <ac:chgData name="muhammed Afnan" userId="1bfa78234b125e04" providerId="LiveId" clId="{DBC55618-76CA-41E9-A68D-B783A298492E}" dt="2026-08-09T15:32:31.490" v="212" actId="255"/>
          <ac:spMkLst>
            <pc:docMk/>
            <pc:sldMk cId="2329917184" sldId="270"/>
            <ac:spMk id="3" creationId="{7CA49161-4165-BA0C-AD2C-D5EAB7C400E0}"/>
          </ac:spMkLst>
        </pc:spChg>
      </pc:sldChg>
      <pc:sldChg chg="addSp delSp modSp new mod">
        <pc:chgData name="muhammed Afnan" userId="1bfa78234b125e04" providerId="LiveId" clId="{DBC55618-76CA-41E9-A68D-B783A298492E}" dt="2026-08-10T21:06:34.796" v="226"/>
        <pc:sldMkLst>
          <pc:docMk/>
          <pc:sldMk cId="2517548404" sldId="271"/>
        </pc:sldMkLst>
        <pc:picChg chg="add mod">
          <ac:chgData name="muhammed Afnan" userId="1bfa78234b125e04" providerId="LiveId" clId="{DBC55618-76CA-41E9-A68D-B783A298492E}" dt="2026-08-10T21:06:34.796" v="226"/>
          <ac:picMkLst>
            <pc:docMk/>
            <pc:sldMk cId="2517548404" sldId="271"/>
            <ac:picMk id="41" creationId="{D4C67B87-39F5-B06D-F1E1-E4222FB317BC}"/>
          </ac:picMkLst>
        </pc:picChg>
      </pc:sldChg>
      <pc:sldChg chg="addSp modSp new mod">
        <pc:chgData name="muhammed Afnan" userId="1bfa78234b125e04" providerId="LiveId" clId="{DBC55618-76CA-41E9-A68D-B783A298492E}" dt="2026-08-10T21:06:59.863" v="230" actId="14100"/>
        <pc:sldMkLst>
          <pc:docMk/>
          <pc:sldMk cId="475656655" sldId="272"/>
        </pc:sldMkLst>
        <pc:picChg chg="add mod">
          <ac:chgData name="muhammed Afnan" userId="1bfa78234b125e04" providerId="LiveId" clId="{DBC55618-76CA-41E9-A68D-B783A298492E}" dt="2026-08-10T21:06:59.863" v="230" actId="14100"/>
          <ac:picMkLst>
            <pc:docMk/>
            <pc:sldMk cId="475656655" sldId="272"/>
            <ac:picMk id="4" creationId="{FA4B8FBA-663F-202C-CD3D-362392360BD7}"/>
          </ac:picMkLst>
        </pc:picChg>
      </pc:sldChg>
      <pc:sldChg chg="addSp modSp new mod">
        <pc:chgData name="muhammed Afnan" userId="1bfa78234b125e04" providerId="LiveId" clId="{DBC55618-76CA-41E9-A68D-B783A298492E}" dt="2026-08-10T21:07:33.274" v="235" actId="14100"/>
        <pc:sldMkLst>
          <pc:docMk/>
          <pc:sldMk cId="2033449693" sldId="273"/>
        </pc:sldMkLst>
        <pc:picChg chg="add mod">
          <ac:chgData name="muhammed Afnan" userId="1bfa78234b125e04" providerId="LiveId" clId="{DBC55618-76CA-41E9-A68D-B783A298492E}" dt="2026-08-10T21:07:33.274" v="235" actId="14100"/>
          <ac:picMkLst>
            <pc:docMk/>
            <pc:sldMk cId="2033449693" sldId="273"/>
            <ac:picMk id="4" creationId="{794D102D-D749-9AC9-305F-5C6EEF019BB8}"/>
          </ac:picMkLst>
        </pc:picChg>
      </pc:sldChg>
      <pc:sldChg chg="addSp modSp new mod">
        <pc:chgData name="muhammed Afnan" userId="1bfa78234b125e04" providerId="LiveId" clId="{DBC55618-76CA-41E9-A68D-B783A298492E}" dt="2026-08-10T21:08:05.043" v="241" actId="14100"/>
        <pc:sldMkLst>
          <pc:docMk/>
          <pc:sldMk cId="361746129" sldId="274"/>
        </pc:sldMkLst>
        <pc:picChg chg="add mod">
          <ac:chgData name="muhammed Afnan" userId="1bfa78234b125e04" providerId="LiveId" clId="{DBC55618-76CA-41E9-A68D-B783A298492E}" dt="2026-08-10T21:08:05.043" v="241" actId="14100"/>
          <ac:picMkLst>
            <pc:docMk/>
            <pc:sldMk cId="361746129" sldId="274"/>
            <ac:picMk id="5" creationId="{82ED8466-5725-BC4D-CDA9-C2A5AA48CD06}"/>
          </ac:picMkLst>
        </pc:picChg>
      </pc:sldChg>
      <pc:sldChg chg="addSp delSp modSp new mod">
        <pc:chgData name="muhammed Afnan" userId="1bfa78234b125e04" providerId="LiveId" clId="{DBC55618-76CA-41E9-A68D-B783A298492E}" dt="2026-08-10T21:09:16.372" v="254" actId="14100"/>
        <pc:sldMkLst>
          <pc:docMk/>
          <pc:sldMk cId="446521309" sldId="275"/>
        </pc:sldMkLst>
        <pc:picChg chg="add mod">
          <ac:chgData name="muhammed Afnan" userId="1bfa78234b125e04" providerId="LiveId" clId="{DBC55618-76CA-41E9-A68D-B783A298492E}" dt="2026-08-10T21:09:16.372" v="254" actId="14100"/>
          <ac:picMkLst>
            <pc:docMk/>
            <pc:sldMk cId="446521309" sldId="275"/>
            <ac:picMk id="6" creationId="{CA2D2284-6849-6D0F-DC09-9994C98D7856}"/>
          </ac:picMkLst>
        </pc:picChg>
      </pc:sldChg>
      <pc:sldChg chg="modSp new mod modAnim">
        <pc:chgData name="muhammed Afnan" userId="1bfa78234b125e04" providerId="LiveId" clId="{DBC55618-76CA-41E9-A68D-B783A298492E}" dt="2026-08-11T13:15:06.410" v="303"/>
        <pc:sldMkLst>
          <pc:docMk/>
          <pc:sldMk cId="1020951661" sldId="276"/>
        </pc:sldMkLst>
        <pc:spChg chg="mod">
          <ac:chgData name="muhammed Afnan" userId="1bfa78234b125e04" providerId="LiveId" clId="{DBC55618-76CA-41E9-A68D-B783A298492E}" dt="2026-08-11T13:13:14.768" v="285" actId="1076"/>
          <ac:spMkLst>
            <pc:docMk/>
            <pc:sldMk cId="1020951661" sldId="276"/>
            <ac:spMk id="2" creationId="{7090F9E5-6BAB-1038-1FFA-67A40DD9DA9A}"/>
          </ac:spMkLst>
        </pc:spChg>
        <pc:spChg chg="mod">
          <ac:chgData name="muhammed Afnan" userId="1bfa78234b125e04" providerId="LiveId" clId="{DBC55618-76CA-41E9-A68D-B783A298492E}" dt="2026-08-11T13:14:42.892" v="300" actId="255"/>
          <ac:spMkLst>
            <pc:docMk/>
            <pc:sldMk cId="1020951661" sldId="276"/>
            <ac:spMk id="3" creationId="{F1C081D3-892B-5230-D35C-7BD6F17D0561}"/>
          </ac:spMkLst>
        </pc:spChg>
      </pc:sldChg>
      <pc:sldChg chg="delSp modSp new mod modAnim">
        <pc:chgData name="muhammed Afnan" userId="1bfa78234b125e04" providerId="LiveId" clId="{DBC55618-76CA-41E9-A68D-B783A298492E}" dt="2026-08-19T12:29:09.442" v="1916" actId="255"/>
        <pc:sldMkLst>
          <pc:docMk/>
          <pc:sldMk cId="446897434" sldId="277"/>
        </pc:sldMkLst>
        <pc:spChg chg="mod">
          <ac:chgData name="muhammed Afnan" userId="1bfa78234b125e04" providerId="LiveId" clId="{DBC55618-76CA-41E9-A68D-B783A298492E}" dt="2026-08-19T12:29:09.442" v="1916" actId="255"/>
          <ac:spMkLst>
            <pc:docMk/>
            <pc:sldMk cId="446897434" sldId="277"/>
            <ac:spMk id="3" creationId="{59D8635E-5D13-3273-9930-CD79B9902B55}"/>
          </ac:spMkLst>
        </pc:spChg>
      </pc:sldChg>
      <pc:sldChg chg="delSp modSp new mod modAnim">
        <pc:chgData name="muhammed Afnan" userId="1bfa78234b125e04" providerId="LiveId" clId="{DBC55618-76CA-41E9-A68D-B783A298492E}" dt="2026-08-12T20:33:17.843" v="1867" actId="20577"/>
        <pc:sldMkLst>
          <pc:docMk/>
          <pc:sldMk cId="350493565" sldId="278"/>
        </pc:sldMkLst>
        <pc:spChg chg="mod">
          <ac:chgData name="muhammed Afnan" userId="1bfa78234b125e04" providerId="LiveId" clId="{DBC55618-76CA-41E9-A68D-B783A298492E}" dt="2026-08-12T20:33:17.843" v="1867" actId="20577"/>
          <ac:spMkLst>
            <pc:docMk/>
            <pc:sldMk cId="350493565" sldId="278"/>
            <ac:spMk id="3" creationId="{7BC8BC31-05FB-C7BB-0B83-F1688B33EA74}"/>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10" name="Picture 9" descr="A black circle in a purple and orange color&#10;&#10;AI-generated content may be incorrect.">
            <a:extLst>
              <a:ext uri="{FF2B5EF4-FFF2-40B4-BE49-F238E27FC236}">
                <a16:creationId xmlns:a16="http://schemas.microsoft.com/office/drawing/2014/main" id="{C8E832A1-AE20-595C-6C6A-C6CAD6D72233}"/>
              </a:ext>
            </a:extLst>
          </p:cNvPr>
          <p:cNvPicPr>
            <a:picLocks noChangeAspect="1"/>
          </p:cNvPicPr>
          <p:nvPr/>
        </p:nvPicPr>
        <p:blipFill>
          <a:blip r:embed="rId2">
            <a:extLst>
              <a:ext uri="{28A0092B-C50C-407E-A947-70E740481C1C}">
                <a14:useLocalDpi xmlns:a14="http://schemas.microsoft.com/office/drawing/2010/main" val="0"/>
              </a:ext>
            </a:extLst>
          </a:blip>
          <a:srcRect l="14059" t="1529" r="16895" b="27442"/>
          <a:stretch>
            <a:fillRect/>
          </a:stretch>
        </p:blipFill>
        <p:spPr>
          <a:xfrm flipH="1">
            <a:off x="-27432" y="0"/>
            <a:ext cx="12219432" cy="68657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95259" y="1820486"/>
            <a:ext cx="4800600" cy="2762187"/>
          </a:xfrm>
        </p:spPr>
        <p:txBody>
          <a:bodyPr vert="horz" lIns="91440" tIns="45720" rIns="91440" bIns="45720" rtlCol="0" anchor="b">
            <a:normAutofit/>
          </a:bodyPr>
          <a:lstStyle>
            <a:lvl1pPr>
              <a:defRPr lang="en-US" sz="48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295260" y="4714821"/>
            <a:ext cx="3830874" cy="1496616"/>
          </a:xfrm>
        </p:spPr>
        <p:txBody>
          <a:bodyPr vert="horz" lIns="91440" tIns="45720" rIns="91440" bIns="45720" rtlCol="0" anchor="t">
            <a:normAutofit/>
          </a:bodyPr>
          <a:lstStyle>
            <a:lvl1pPr marL="0" indent="0">
              <a:buNone/>
              <a:defRPr lang="en-US" sz="1400"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295259" y="219456"/>
            <a:ext cx="2703777" cy="338328"/>
          </a:xfrm>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235440" y="219456"/>
            <a:ext cx="1495365" cy="338328"/>
          </a:xfrm>
        </p:spPr>
        <p:txBody>
          <a:bodyPr/>
          <a:lstStyle>
            <a:lvl1pPr>
              <a:defRPr>
                <a:solidFill>
                  <a:schemeClr val="tx1"/>
                </a:solidFill>
              </a:defRPr>
            </a:lvl1pPr>
          </a:lstStyle>
          <a:p>
            <a:fld id="{45AAD6C3-5B35-44D9-A057-1183419C53D1}" type="datetimeFigureOut">
              <a:rPr lang="en-IN" smtClean="0"/>
              <a:t>19-08-2026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B608307A-36AD-4D75-AB5F-5D54DB10245D}" type="slidenum">
              <a:rPr lang="en-IN" smtClean="0"/>
              <a:t>‹#›</a:t>
            </a:fld>
            <a:endParaRPr lang="en-IN"/>
          </a:p>
        </p:txBody>
      </p:sp>
    </p:spTree>
    <p:extLst>
      <p:ext uri="{BB962C8B-B14F-4D97-AF65-F5344CB8AC3E}">
        <p14:creationId xmlns:p14="http://schemas.microsoft.com/office/powerpoint/2010/main" val="1100217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217452" y="214858"/>
            <a:ext cx="1485900" cy="338328"/>
          </a:xfrm>
        </p:spPr>
        <p:txBody>
          <a:bodyPr/>
          <a:lstStyle>
            <a:lvl1pPr>
              <a:defRPr>
                <a:solidFill>
                  <a:schemeClr val="tx1"/>
                </a:solidFill>
              </a:defRPr>
            </a:lvl1pPr>
          </a:lstStyle>
          <a:p>
            <a:fld id="{45AAD6C3-5B35-44D9-A057-1183419C53D1}" type="datetimeFigureOut">
              <a:rPr lang="en-IN" smtClean="0"/>
              <a:t>19-08-2026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B608307A-36AD-4D75-AB5F-5D54DB10245D}" type="slidenum">
              <a:rPr lang="en-IN" smtClean="0"/>
              <a:t>‹#›</a:t>
            </a:fld>
            <a:endParaRPr lang="en-IN"/>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949034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pic>
        <p:nvPicPr>
          <p:cNvPr id="7" name="Picture 6" descr="A black circle in a purple and orange color&#10;&#10;AI-generated content may be incorrect.">
            <a:extLst>
              <a:ext uri="{FF2B5EF4-FFF2-40B4-BE49-F238E27FC236}">
                <a16:creationId xmlns:a16="http://schemas.microsoft.com/office/drawing/2014/main" id="{6AC85073-6D22-76C5-C752-C565E9FBCC84}"/>
              </a:ext>
            </a:extLst>
          </p:cNvPr>
          <p:cNvPicPr>
            <a:picLocks noChangeAspect="1"/>
          </p:cNvPicPr>
          <p:nvPr/>
        </p:nvPicPr>
        <p:blipFill>
          <a:blip r:embed="rId2">
            <a:extLst>
              <a:ext uri="{28A0092B-C50C-407E-A947-70E740481C1C}">
                <a14:useLocalDpi xmlns:a14="http://schemas.microsoft.com/office/drawing/2010/main" val="0"/>
              </a:ext>
            </a:extLst>
          </a:blip>
          <a:srcRect l="1146" t="10520" r="14652" b="11508"/>
          <a:stretch>
            <a:fillRect/>
          </a:stretch>
        </p:blipFill>
        <p:spPr>
          <a:xfrm flipH="1">
            <a:off x="-2" y="11899"/>
            <a:ext cx="12192001" cy="6865715"/>
          </a:xfrm>
          <a:prstGeom prst="rect">
            <a:avLst/>
          </a:prstGeom>
        </p:spPr>
      </p:pic>
      <p:sp>
        <p:nvSpPr>
          <p:cNvPr id="9" name="Title 8">
            <a:extLst>
              <a:ext uri="{FF2B5EF4-FFF2-40B4-BE49-F238E27FC236}">
                <a16:creationId xmlns:a16="http://schemas.microsoft.com/office/drawing/2014/main" id="{BF6CFC71-0CC0-F6AB-06FD-5F2DE2587092}"/>
              </a:ext>
            </a:extLst>
          </p:cNvPr>
          <p:cNvSpPr>
            <a:spLocks noGrp="1"/>
          </p:cNvSpPr>
          <p:nvPr>
            <p:ph type="title"/>
          </p:nvPr>
        </p:nvSpPr>
        <p:spPr>
          <a:xfrm>
            <a:off x="420792" y="459253"/>
            <a:ext cx="5658468" cy="2691359"/>
          </a:xfrm>
        </p:spPr>
        <p:txBody>
          <a:bodyPr/>
          <a:lstStyle>
            <a:lvl1pPr>
              <a:defRPr sz="4600"/>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41932924-E87B-08A2-5EE3-BBA69699E24F}"/>
              </a:ext>
            </a:extLst>
          </p:cNvPr>
          <p:cNvSpPr>
            <a:spLocks noGrp="1"/>
          </p:cNvSpPr>
          <p:nvPr>
            <p:ph type="subTitle" idx="1"/>
          </p:nvPr>
        </p:nvSpPr>
        <p:spPr>
          <a:xfrm>
            <a:off x="7362264" y="516600"/>
            <a:ext cx="2593814" cy="1627886"/>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2265" y="219456"/>
            <a:ext cx="2504049" cy="338328"/>
          </a:xfrm>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363200" y="219456"/>
            <a:ext cx="1146383" cy="338328"/>
          </a:xfrm>
        </p:spPr>
        <p:txBody>
          <a:bodyPr/>
          <a:lstStyle>
            <a:lvl1pPr>
              <a:defRPr>
                <a:solidFill>
                  <a:schemeClr val="tx1"/>
                </a:solidFill>
              </a:defRPr>
            </a:lvl1pPr>
          </a:lstStyle>
          <a:p>
            <a:fld id="{45AAD6C3-5B35-44D9-A057-1183419C53D1}" type="datetimeFigureOut">
              <a:rPr lang="en-IN" smtClean="0"/>
              <a:t>19-08-2026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1657" y="219456"/>
            <a:ext cx="555948" cy="338328"/>
          </a:xfrm>
        </p:spPr>
        <p:txBody>
          <a:bodyPr/>
          <a:lstStyle>
            <a:lvl1pPr>
              <a:defRPr>
                <a:solidFill>
                  <a:schemeClr val="tx1"/>
                </a:solidFill>
              </a:defRPr>
            </a:lvl1pPr>
          </a:lstStyle>
          <a:p>
            <a:fld id="{B608307A-36AD-4D75-AB5F-5D54DB10245D}" type="slidenum">
              <a:rPr lang="en-IN" smtClean="0"/>
              <a:t>‹#›</a:t>
            </a:fld>
            <a:endParaRPr lang="en-IN"/>
          </a:p>
        </p:txBody>
      </p:sp>
    </p:spTree>
    <p:extLst>
      <p:ext uri="{BB962C8B-B14F-4D97-AF65-F5344CB8AC3E}">
        <p14:creationId xmlns:p14="http://schemas.microsoft.com/office/powerpoint/2010/main" val="3110852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dirty="0"/>
              <a:t>   </a:t>
            </a:r>
          </a:p>
        </p:txBody>
      </p:sp>
      <p:sp>
        <p:nvSpPr>
          <p:cNvPr id="15" name="Title 14">
            <a:extLst>
              <a:ext uri="{FF2B5EF4-FFF2-40B4-BE49-F238E27FC236}">
                <a16:creationId xmlns:a16="http://schemas.microsoft.com/office/drawing/2014/main" id="{7EB34FF5-770C-AA64-B806-5D6DED71138A}"/>
              </a:ext>
            </a:extLst>
          </p:cNvPr>
          <p:cNvSpPr>
            <a:spLocks noGrp="1"/>
          </p:cNvSpPr>
          <p:nvPr>
            <p:ph type="title"/>
          </p:nvPr>
        </p:nvSpPr>
        <p:spPr>
          <a:xfrm>
            <a:off x="0" y="4463843"/>
            <a:ext cx="12188952" cy="2394157"/>
          </a:xfrm>
          <a:gradFill>
            <a:gsLst>
              <a:gs pos="31000">
                <a:srgbClr val="000000">
                  <a:alpha val="30000"/>
                </a:srgbClr>
              </a:gs>
              <a:gs pos="87000">
                <a:srgbClr val="000000">
                  <a:alpha val="60000"/>
                </a:srgbClr>
              </a:gs>
              <a:gs pos="0">
                <a:srgbClr val="000000">
                  <a:alpha val="0"/>
                </a:srgbClr>
              </a:gs>
            </a:gsLst>
            <a:lin ang="5400000" scaled="0"/>
          </a:gradFill>
        </p:spPr>
        <p:txBody>
          <a:bodyPr lIns="502920" tIns="0" rIns="5029200" bIns="365760" anchor="b"/>
          <a:lstStyle>
            <a:lvl1pPr>
              <a:defRPr sz="4000">
                <a:solidFill>
                  <a:schemeClr val="tx1"/>
                </a:solidFill>
              </a:defRPr>
            </a:lvl1pPr>
          </a:lstStyle>
          <a:p>
            <a:r>
              <a:rPr lang="en-US"/>
              <a:t>Click to edit Master title style</a:t>
            </a:r>
            <a:endParaRPr lang="en-US" dirty="0"/>
          </a:p>
        </p:txBody>
      </p:sp>
      <p:sp>
        <p:nvSpPr>
          <p:cNvPr id="12" name="Subtitle 2">
            <a:extLst>
              <a:ext uri="{FF2B5EF4-FFF2-40B4-BE49-F238E27FC236}">
                <a16:creationId xmlns:a16="http://schemas.microsoft.com/office/drawing/2014/main" id="{49132BB0-A42B-7355-8046-F22B2344C64F}"/>
              </a:ext>
            </a:extLst>
          </p:cNvPr>
          <p:cNvSpPr>
            <a:spLocks noGrp="1"/>
          </p:cNvSpPr>
          <p:nvPr>
            <p:ph type="subTitle" idx="1"/>
          </p:nvPr>
        </p:nvSpPr>
        <p:spPr>
          <a:xfrm>
            <a:off x="8801099" y="4463843"/>
            <a:ext cx="3387853" cy="2394157"/>
          </a:xfrm>
        </p:spPr>
        <p:txBody>
          <a:bodyPr vert="horz" lIns="137160" tIns="365760" rIns="0" bIns="457200" rtlCol="0" anchor="b">
            <a:normAutofit/>
          </a:bodyPr>
          <a:lstStyle>
            <a:lvl1pPr marL="0" indent="0">
              <a:buNone/>
              <a:defRPr lang="en-US" sz="1400" dirty="0">
                <a:solidFill>
                  <a:schemeClr val="tx1"/>
                </a:solidFill>
              </a:defRPr>
            </a:lvl1pPr>
          </a:lstStyle>
          <a:p>
            <a:pPr lvl="0"/>
            <a:r>
              <a:rPr lang="en-US"/>
              <a:t>Click to edit Master subtitle style</a:t>
            </a:r>
            <a:endParaRPr lang="en-US" dirty="0"/>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37656" y="219456"/>
            <a:ext cx="2740616" cy="365760"/>
          </a:xfrm>
        </p:spPr>
        <p:txBody>
          <a:bodyPr/>
          <a:lstStyle>
            <a:lvl1pPr>
              <a:defRPr>
                <a:solidFill>
                  <a:schemeClr val="tx1"/>
                </a:solidFill>
              </a:defRPr>
            </a:lvl1pPr>
          </a:lstStyle>
          <a:p>
            <a:endParaRPr lang="en-IN"/>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66095" y="219456"/>
            <a:ext cx="1957990" cy="365760"/>
          </a:xfrm>
        </p:spPr>
        <p:txBody>
          <a:bodyPr/>
          <a:lstStyle>
            <a:lvl1pPr>
              <a:defRPr>
                <a:solidFill>
                  <a:schemeClr val="tx1"/>
                </a:solidFill>
              </a:defRPr>
            </a:lvl1pPr>
          </a:lstStyle>
          <a:p>
            <a:fld id="{45AAD6C3-5B35-44D9-A057-1183419C53D1}" type="datetimeFigureOut">
              <a:rPr lang="en-IN" smtClean="0"/>
              <a:t>19-08-2026</a:t>
            </a:fld>
            <a:endParaRPr lang="en-IN"/>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362195" y="219456"/>
            <a:ext cx="448805" cy="365760"/>
          </a:xfrm>
        </p:spPr>
        <p:txBody>
          <a:bodyPr/>
          <a:lstStyle>
            <a:lvl1pPr>
              <a:defRPr>
                <a:solidFill>
                  <a:schemeClr val="tx1"/>
                </a:solidFill>
              </a:defRPr>
            </a:lvl1pPr>
          </a:lstStyle>
          <a:p>
            <a:fld id="{B608307A-36AD-4D75-AB5F-5D54DB10245D}" type="slidenum">
              <a:rPr lang="en-IN" smtClean="0"/>
              <a:t>‹#›</a:t>
            </a:fld>
            <a:endParaRPr lang="en-IN"/>
          </a:p>
        </p:txBody>
      </p:sp>
    </p:spTree>
    <p:extLst>
      <p:ext uri="{BB962C8B-B14F-4D97-AF65-F5344CB8AC3E}">
        <p14:creationId xmlns:p14="http://schemas.microsoft.com/office/powerpoint/2010/main" val="3500704876"/>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10" name="Picture 9" descr="A close up of a colorful background&#10;&#10;AI-generated content may be incorrect.">
            <a:extLst>
              <a:ext uri="{FF2B5EF4-FFF2-40B4-BE49-F238E27FC236}">
                <a16:creationId xmlns:a16="http://schemas.microsoft.com/office/drawing/2014/main" id="{6F838A51-B977-1664-089F-3B2250DFEF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81172" cy="6858000"/>
          </a:xfrm>
          <a:prstGeom prst="rect">
            <a:avLst/>
          </a:prstGeom>
        </p:spPr>
      </p:pic>
      <p:sp>
        <p:nvSpPr>
          <p:cNvPr id="2" name="Title 1">
            <a:extLst>
              <a:ext uri="{FF2B5EF4-FFF2-40B4-BE49-F238E27FC236}">
                <a16:creationId xmlns:a16="http://schemas.microsoft.com/office/drawing/2014/main" id="{8892EA34-13CC-54C1-DE3D-4F1D5D55C9A7}"/>
              </a:ext>
            </a:extLst>
          </p:cNvPr>
          <p:cNvSpPr>
            <a:spLocks noGrp="1"/>
          </p:cNvSpPr>
          <p:nvPr>
            <p:ph type="title" hasCustomPrompt="1"/>
          </p:nvPr>
        </p:nvSpPr>
        <p:spPr>
          <a:xfrm>
            <a:off x="409980" y="4311805"/>
            <a:ext cx="8585337" cy="2368300"/>
          </a:xfrm>
        </p:spPr>
        <p:txBody>
          <a:bodyPr anchor="b">
            <a:normAutofit/>
          </a:bodyPr>
          <a:lstStyle>
            <a:lvl1pPr>
              <a:defRPr sz="6900">
                <a:solidFill>
                  <a:schemeClr val="tx1"/>
                </a:solidFill>
              </a:defRPr>
            </a:lvl1pPr>
          </a:lstStyle>
          <a:p>
            <a:r>
              <a:rPr lang="en-US" dirty="0"/>
              <a:t>Section Header</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419100" y="219456"/>
            <a:ext cx="2656178" cy="338328"/>
          </a:xfrm>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8801100" y="219456"/>
            <a:ext cx="1913256" cy="338328"/>
          </a:xfrm>
        </p:spPr>
        <p:txBody>
          <a:bodyPr/>
          <a:lstStyle>
            <a:lvl1pPr>
              <a:defRPr>
                <a:solidFill>
                  <a:schemeClr val="tx1"/>
                </a:solidFill>
              </a:defRPr>
            </a:lvl1pPr>
          </a:lstStyle>
          <a:p>
            <a:fld id="{45AAD6C3-5B35-44D9-A057-1183419C53D1}" type="datetimeFigureOut">
              <a:rPr lang="en-IN" smtClean="0"/>
              <a:t>19-08-2026</a:t>
            </a:fld>
            <a:endParaRPr lang="en-IN"/>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291658" y="219456"/>
            <a:ext cx="555948" cy="338328"/>
          </a:xfrm>
        </p:spPr>
        <p:txBody>
          <a:bodyPr/>
          <a:lstStyle>
            <a:lvl1pPr>
              <a:defRPr>
                <a:solidFill>
                  <a:schemeClr val="tx1"/>
                </a:solidFill>
              </a:defRPr>
            </a:lvl1pPr>
          </a:lstStyle>
          <a:p>
            <a:fld id="{B608307A-36AD-4D75-AB5F-5D54DB10245D}" type="slidenum">
              <a:rPr lang="en-IN" smtClean="0"/>
              <a:t>‹#›</a:t>
            </a:fld>
            <a:endParaRPr lang="en-IN"/>
          </a:p>
        </p:txBody>
      </p:sp>
    </p:spTree>
    <p:extLst>
      <p:ext uri="{BB962C8B-B14F-4D97-AF65-F5344CB8AC3E}">
        <p14:creationId xmlns:p14="http://schemas.microsoft.com/office/powerpoint/2010/main" val="3772307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black background with a purple and orange light&#10;&#10;AI-generated content may be incorrect.">
            <a:extLst>
              <a:ext uri="{FF2B5EF4-FFF2-40B4-BE49-F238E27FC236}">
                <a16:creationId xmlns:a16="http://schemas.microsoft.com/office/drawing/2014/main" id="{D09BF41B-6D10-9A6E-03E4-5E7320A61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2"/>
            <a:ext cx="12192000" cy="2869093"/>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68368" y="2138776"/>
            <a:ext cx="6433266" cy="1962149"/>
          </a:xfrm>
        </p:spPr>
        <p:txBody>
          <a:bodyPr anchor="t">
            <a:normAutofit/>
          </a:bodyPr>
          <a:lstStyle>
            <a:lvl1pPr>
              <a:defRPr sz="8800" baseline="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353300" y="214858"/>
            <a:ext cx="1485900" cy="338328"/>
          </a:xfrm>
        </p:spPr>
        <p:txBody>
          <a:bodyPr/>
          <a:lstStyle>
            <a:lvl1pPr>
              <a:defRPr>
                <a:solidFill>
                  <a:schemeClr val="tx1"/>
                </a:solidFill>
              </a:defRPr>
            </a:lvl1pPr>
          </a:lstStyle>
          <a:p>
            <a:fld id="{45AAD6C3-5B35-44D9-A057-1183419C53D1}" type="datetimeFigureOut">
              <a:rPr lang="en-IN" smtClean="0"/>
              <a:t>19-08-2026</a:t>
            </a:fld>
            <a:endParaRPr lang="en-IN"/>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B608307A-36AD-4D75-AB5F-5D54DB10245D}" type="slidenum">
              <a:rPr lang="en-IN" smtClean="0"/>
              <a:t>‹#›</a:t>
            </a:fld>
            <a:endParaRPr lang="en-IN"/>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353301" y="2138776"/>
            <a:ext cx="3718420" cy="4109624"/>
          </a:xfrm>
        </p:spPr>
        <p:txBody>
          <a:bodyPr vert="horz" lIns="91440" tIns="45720" rIns="91440" bIns="45720" rtlCol="0" anchor="t">
            <a:normAutofit/>
          </a:bodyPr>
          <a:lstStyle>
            <a:lvl1pPr marL="457200" indent="-457200">
              <a:buFont typeface="+mj-lt"/>
              <a:buAutoNum type="arabicPeriod"/>
              <a:defRPr lang="en-US" sz="1400" dirty="0">
                <a:solidFill>
                  <a:schemeClr val="tx1"/>
                </a:solidFill>
              </a:defRPr>
            </a:lvl1pPr>
            <a:lvl2pPr marL="571500" indent="-342900">
              <a:buFont typeface="+mj-lt"/>
              <a:buAutoNum type="arabicPeriod"/>
              <a:defRPr lang="en-US" sz="1400" dirty="0">
                <a:solidFill>
                  <a:schemeClr val="tx1"/>
                </a:solidFill>
              </a:defRPr>
            </a:lvl2pPr>
            <a:lvl3pPr marL="800100" indent="-342900">
              <a:buFont typeface="+mj-lt"/>
              <a:buAutoNum type="arabicPeriod"/>
              <a:defRPr lang="en-US" sz="1400" dirty="0">
                <a:solidFill>
                  <a:schemeClr val="tx1"/>
                </a:solidFill>
              </a:defRPr>
            </a:lvl3pPr>
            <a:lvl4pPr>
              <a:buFont typeface="+mj-lt"/>
              <a:buAutoNum type="arabicPeriod"/>
              <a:defRPr lang="en-US" sz="1400" dirty="0">
                <a:solidFill>
                  <a:schemeClr val="tx1"/>
                </a:solidFill>
              </a:defRPr>
            </a:lvl4pPr>
            <a:lvl5pPr>
              <a:buFont typeface="+mj-lt"/>
              <a:buAutoNum type="arabicPeriod"/>
              <a:defRPr lang="en-US" sz="14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77153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bg>
      <p:bgPr>
        <a:solidFill>
          <a:srgbClr val="09090C"/>
        </a:solidFill>
        <a:effectLst/>
      </p:bgPr>
    </p:bg>
    <p:spTree>
      <p:nvGrpSpPr>
        <p:cNvPr id="1" name=""/>
        <p:cNvGrpSpPr/>
        <p:nvPr/>
      </p:nvGrpSpPr>
      <p:grpSpPr>
        <a:xfrm>
          <a:off x="0" y="0"/>
          <a:ext cx="0" cy="0"/>
          <a:chOff x="0" y="0"/>
          <a:chExt cx="0" cy="0"/>
        </a:xfrm>
      </p:grpSpPr>
      <p:pic>
        <p:nvPicPr>
          <p:cNvPr id="6" name="Picture 5" descr="A black background with a red and yellow light&#10;&#10;AI-generated content may be incorrect.">
            <a:extLst>
              <a:ext uri="{FF2B5EF4-FFF2-40B4-BE49-F238E27FC236}">
                <a16:creationId xmlns:a16="http://schemas.microsoft.com/office/drawing/2014/main" id="{BD349A90-08FB-AFC0-8649-56404DF7B8C2}"/>
              </a:ext>
            </a:extLst>
          </p:cNvPr>
          <p:cNvPicPr>
            <a:picLocks noChangeAspect="1"/>
          </p:cNvPicPr>
          <p:nvPr/>
        </p:nvPicPr>
        <p:blipFill>
          <a:blip r:embed="rId2">
            <a:extLst>
              <a:ext uri="{28A0092B-C50C-407E-A947-70E740481C1C}">
                <a14:useLocalDpi xmlns:a14="http://schemas.microsoft.com/office/drawing/2010/main" val="0"/>
              </a:ext>
            </a:extLst>
          </a:blip>
          <a:srcRect b="36109"/>
          <a:stretch>
            <a:fillRect/>
          </a:stretch>
        </p:blipFill>
        <p:spPr>
          <a:xfrm rot="10800000" flipH="1">
            <a:off x="-9982" y="2555751"/>
            <a:ext cx="12192000" cy="4343908"/>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90852" y="3481713"/>
            <a:ext cx="5496426" cy="2092272"/>
          </a:xfrm>
        </p:spPr>
        <p:txBody>
          <a:bodyPr anchor="t">
            <a:normAutofit/>
          </a:bodyPr>
          <a:lstStyle>
            <a:lvl1pPr>
              <a:defRPr sz="7600">
                <a:solidFill>
                  <a:schemeClr val="tx1"/>
                </a:solidFill>
              </a:defRPr>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743EA2DD-B019-E3AA-ACB7-13CC3353E8D4}"/>
              </a:ext>
            </a:extLst>
          </p:cNvPr>
          <p:cNvSpPr>
            <a:spLocks noGrp="1"/>
          </p:cNvSpPr>
          <p:nvPr>
            <p:ph type="pic" sz="quarter" idx="14" hasCustomPrompt="1"/>
          </p:nvPr>
        </p:nvSpPr>
        <p:spPr>
          <a:xfrm>
            <a:off x="0" y="0"/>
            <a:ext cx="12192000" cy="2555751"/>
          </a:xfrm>
          <a:blipFill>
            <a:blip r:embed="rId3">
              <a:alphaModFix amt="65000"/>
            </a:blip>
            <a:stretch>
              <a:fillRect/>
            </a:stretch>
          </a:blipFill>
        </p:spPr>
        <p:txBody>
          <a:bodyPr/>
          <a:lstStyle>
            <a:lvl1pPr>
              <a:defRPr>
                <a:solidFill>
                  <a:schemeClr val="tx1"/>
                </a:solidFill>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33660" y="2734068"/>
            <a:ext cx="2727331" cy="338328"/>
          </a:xfrm>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785567" y="2734068"/>
            <a:ext cx="1586711" cy="338328"/>
          </a:xfrm>
        </p:spPr>
        <p:txBody>
          <a:bodyPr/>
          <a:lstStyle>
            <a:lvl1pPr>
              <a:defRPr>
                <a:solidFill>
                  <a:schemeClr val="tx1"/>
                </a:solidFill>
              </a:defRPr>
            </a:lvl1pPr>
          </a:lstStyle>
          <a:p>
            <a:fld id="{45AAD6C3-5B35-44D9-A057-1183419C53D1}" type="datetimeFigureOut">
              <a:rPr lang="en-IN" smtClean="0"/>
              <a:t>19-08-2026</a:t>
            </a:fld>
            <a:endParaRPr lang="en-IN"/>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316614" y="2734068"/>
            <a:ext cx="526695" cy="338328"/>
          </a:xfrm>
        </p:spPr>
        <p:txBody>
          <a:bodyPr/>
          <a:lstStyle>
            <a:lvl1pPr>
              <a:defRPr>
                <a:solidFill>
                  <a:schemeClr val="tx1"/>
                </a:solidFill>
              </a:defRPr>
            </a:lvl1pPr>
          </a:lstStyle>
          <a:p>
            <a:fld id="{B608307A-36AD-4D75-AB5F-5D54DB10245D}" type="slidenum">
              <a:rPr lang="en-IN" smtClean="0"/>
              <a:t>‹#›</a:t>
            </a:fld>
            <a:endParaRPr lang="en-IN"/>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785567" y="3481713"/>
            <a:ext cx="3916103" cy="2765887"/>
          </a:xfrm>
        </p:spPr>
        <p:txBody>
          <a:bodyPr vert="horz" lIns="91440" tIns="45720" rIns="91440" bIns="45720" rtlCol="0">
            <a:normAutofit/>
          </a:bodyPr>
          <a:lstStyle>
            <a:lvl1pPr marL="342900" indent="-342900">
              <a:lnSpc>
                <a:spcPct val="130000"/>
              </a:lnSpc>
              <a:buFont typeface="+mj-lt"/>
              <a:buAutoNum type="arabicPeriod"/>
              <a:defRPr lang="en-US" sz="1400" dirty="0">
                <a:solidFill>
                  <a:schemeClr val="tx1"/>
                </a:solidFill>
              </a:defRPr>
            </a:lvl1pPr>
            <a:lvl2pPr marL="571500" indent="-342900">
              <a:lnSpc>
                <a:spcPct val="130000"/>
              </a:lnSpc>
              <a:buFont typeface="+mj-lt"/>
              <a:buAutoNum type="arabicPeriod"/>
              <a:defRPr lang="en-US" sz="1400" dirty="0">
                <a:solidFill>
                  <a:schemeClr val="tx1"/>
                </a:solidFill>
              </a:defRPr>
            </a:lvl2pPr>
            <a:lvl3pPr marL="800100" indent="-342900">
              <a:lnSpc>
                <a:spcPct val="130000"/>
              </a:lnSpc>
              <a:buFont typeface="+mj-lt"/>
              <a:buAutoNum type="arabicPeriod"/>
              <a:defRPr lang="en-US" sz="1400" dirty="0">
                <a:solidFill>
                  <a:schemeClr val="tx1"/>
                </a:solidFill>
              </a:defRPr>
            </a:lvl3pPr>
            <a:lvl4pPr>
              <a:lnSpc>
                <a:spcPct val="130000"/>
              </a:lnSpc>
              <a:buFont typeface="+mj-lt"/>
              <a:buAutoNum type="arabicPeriod"/>
              <a:defRPr lang="en-US" sz="1400" dirty="0">
                <a:solidFill>
                  <a:schemeClr val="tx1"/>
                </a:solidFill>
              </a:defRPr>
            </a:lvl4pPr>
            <a:lvl5pPr>
              <a:lnSpc>
                <a:spcPct val="130000"/>
              </a:lnSpc>
              <a:buFont typeface="+mj-lt"/>
              <a:buAutoNum type="arabicPeriod"/>
              <a:defRPr lang="en-US" sz="1400" dirty="0">
                <a:solidFill>
                  <a:schemeClr val="tx1"/>
                </a:solidFill>
              </a:defRPr>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endParaRPr lang="en-US" dirty="0"/>
          </a:p>
        </p:txBody>
      </p:sp>
    </p:spTree>
    <p:extLst>
      <p:ext uri="{BB962C8B-B14F-4D97-AF65-F5344CB8AC3E}">
        <p14:creationId xmlns:p14="http://schemas.microsoft.com/office/powerpoint/2010/main" val="637391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pic>
        <p:nvPicPr>
          <p:cNvPr id="23" name="Picture 22" descr="A purple and black background&#10;&#10;AI-generated content may be incorrect.">
            <a:extLst>
              <a:ext uri="{FF2B5EF4-FFF2-40B4-BE49-F238E27FC236}">
                <a16:creationId xmlns:a16="http://schemas.microsoft.com/office/drawing/2014/main" id="{518E8C82-2B1B-76C7-A67D-099AEEEAD0DA}"/>
              </a:ext>
            </a:extLst>
          </p:cNvPr>
          <p:cNvPicPr>
            <a:picLocks noChangeAspect="1"/>
          </p:cNvPicPr>
          <p:nvPr/>
        </p:nvPicPr>
        <p:blipFill>
          <a:blip r:embed="rId2">
            <a:extLst>
              <a:ext uri="{28A0092B-C50C-407E-A947-70E740481C1C}">
                <a14:useLocalDpi xmlns:a14="http://schemas.microsoft.com/office/drawing/2010/main" val="0"/>
              </a:ext>
            </a:extLst>
          </a:blip>
          <a:srcRect l="11509"/>
          <a:stretch>
            <a:fillRect/>
          </a:stretch>
        </p:blipFill>
        <p:spPr>
          <a:xfrm>
            <a:off x="6324601" y="1"/>
            <a:ext cx="5881254"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18851" y="1276990"/>
            <a:ext cx="5378267" cy="985658"/>
          </a:xfrm>
        </p:spPr>
        <p:txBody>
          <a:bodyPr anchor="b"/>
          <a:lstStyle>
            <a:lvl1pPr>
              <a:defRPr>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8801100" y="214858"/>
            <a:ext cx="1941840" cy="338328"/>
          </a:xfrm>
        </p:spPr>
        <p:txBody>
          <a:bodyPr/>
          <a:lstStyle>
            <a:lvl1pPr>
              <a:defRPr>
                <a:solidFill>
                  <a:schemeClr val="tx1"/>
                </a:solidFill>
              </a:defRPr>
            </a:lvl1pPr>
          </a:lstStyle>
          <a:p>
            <a:fld id="{45AAD6C3-5B35-44D9-A057-1183419C53D1}" type="datetimeFigureOut">
              <a:rPr lang="en-IN" smtClean="0"/>
              <a:t>19-08-2026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0295" y="214858"/>
            <a:ext cx="555948" cy="338328"/>
          </a:xfrm>
        </p:spPr>
        <p:txBody>
          <a:bodyPr/>
          <a:lstStyle>
            <a:lvl1pPr>
              <a:defRPr>
                <a:solidFill>
                  <a:schemeClr val="tx1"/>
                </a:solidFill>
              </a:defRPr>
            </a:lvl1pPr>
          </a:lstStyle>
          <a:p>
            <a:fld id="{B608307A-36AD-4D75-AB5F-5D54DB10245D}" type="slidenum">
              <a:rPr lang="en-IN" smtClean="0"/>
              <a:t>‹#›</a:t>
            </a:fld>
            <a:endParaRPr lang="en-IN"/>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27477" y="2471736"/>
            <a:ext cx="5378268" cy="366273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4237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bg>
      <p:bgPr>
        <a:solidFill>
          <a:srgbClr val="09090C"/>
        </a:solidFill>
        <a:effectLst/>
      </p:bgPr>
    </p:bg>
    <p:spTree>
      <p:nvGrpSpPr>
        <p:cNvPr id="1" name=""/>
        <p:cNvGrpSpPr/>
        <p:nvPr/>
      </p:nvGrpSpPr>
      <p:grpSpPr>
        <a:xfrm>
          <a:off x="0" y="0"/>
          <a:ext cx="0" cy="0"/>
          <a:chOff x="0" y="0"/>
          <a:chExt cx="0" cy="0"/>
        </a:xfrm>
      </p:grpSpPr>
      <p:pic>
        <p:nvPicPr>
          <p:cNvPr id="9" name="Picture 8" descr="A black background with a purple and orange light&#10;&#10;AI-generated content may be incorrect.">
            <a:extLst>
              <a:ext uri="{FF2B5EF4-FFF2-40B4-BE49-F238E27FC236}">
                <a16:creationId xmlns:a16="http://schemas.microsoft.com/office/drawing/2014/main" id="{E41EB56E-DF88-E5AB-35AF-891395DCDB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4406900"/>
            <a:ext cx="9144000" cy="24511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899" y="1886712"/>
            <a:ext cx="3507989" cy="3233928"/>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19100" y="208394"/>
            <a:ext cx="2532118" cy="338328"/>
          </a:xfrm>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5867400" y="208394"/>
            <a:ext cx="2017548" cy="338328"/>
          </a:xfrm>
        </p:spPr>
        <p:txBody>
          <a:bodyPr/>
          <a:lstStyle>
            <a:lvl1pPr>
              <a:defRPr>
                <a:solidFill>
                  <a:schemeClr val="tx1"/>
                </a:solidFill>
              </a:defRPr>
            </a:lvl1pPr>
          </a:lstStyle>
          <a:p>
            <a:fld id="{45AAD6C3-5B35-44D9-A057-1183419C53D1}" type="datetimeFigureOut">
              <a:rPr lang="en-IN" smtClean="0"/>
              <a:t>19-08-2026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6588" y="208394"/>
            <a:ext cx="553156" cy="338328"/>
          </a:xfrm>
        </p:spPr>
        <p:txBody>
          <a:bodyPr/>
          <a:lstStyle>
            <a:lvl1pPr>
              <a:defRPr>
                <a:solidFill>
                  <a:schemeClr val="tx1"/>
                </a:solidFill>
              </a:defRPr>
            </a:lvl1pPr>
          </a:lstStyle>
          <a:p>
            <a:fld id="{B608307A-36AD-4D75-AB5F-5D54DB10245D}" type="slidenum">
              <a:rPr lang="en-IN" smtClean="0"/>
              <a:t>‹#›</a:t>
            </a:fld>
            <a:endParaRPr lang="en-IN"/>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867401" y="1886712"/>
            <a:ext cx="4495800" cy="3233928"/>
          </a:xfr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60982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8436" y="1115568"/>
            <a:ext cx="2505264" cy="1624122"/>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84048"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74064" y="215823"/>
            <a:ext cx="1485900" cy="338328"/>
          </a:xfrm>
        </p:spPr>
        <p:txBody>
          <a:bodyPr/>
          <a:lstStyle>
            <a:lvl1pPr>
              <a:defRPr>
                <a:solidFill>
                  <a:schemeClr val="tx1"/>
                </a:solidFill>
                <a:effectLst/>
              </a:defRPr>
            </a:lvl1pPr>
          </a:lstStyle>
          <a:p>
            <a:fld id="{45AAD6C3-5B35-44D9-A057-1183419C53D1}" type="datetimeFigureOut">
              <a:rPr lang="en-IN" smtClean="0"/>
              <a:t>19-08-2026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8242" y="215823"/>
            <a:ext cx="549272" cy="338328"/>
          </a:xfrm>
        </p:spPr>
        <p:txBody>
          <a:bodyPr/>
          <a:lstStyle/>
          <a:p>
            <a:fld id="{B608307A-36AD-4D75-AB5F-5D54DB10245D}" type="slidenum">
              <a:rPr lang="en-IN" smtClean="0"/>
              <a:t>‹#›</a:t>
            </a:fld>
            <a:endParaRPr lang="en-IN"/>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8436" y="3028523"/>
            <a:ext cx="2505264" cy="3410378"/>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DB2531DA-E07E-34C2-010B-27DB8B004926}"/>
              </a:ext>
            </a:extLst>
          </p:cNvPr>
          <p:cNvSpPr>
            <a:spLocks noGrp="1"/>
          </p:cNvSpPr>
          <p:nvPr>
            <p:ph type="pic" sz="quarter" idx="15" hasCustomPrompt="1"/>
          </p:nvPr>
        </p:nvSpPr>
        <p:spPr>
          <a:xfrm>
            <a:off x="3374064" y="1181100"/>
            <a:ext cx="8817936" cy="5676900"/>
          </a:xfrm>
          <a:blipFill>
            <a:blip r:embed="rId2">
              <a:alphaModFix amt="65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6004299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4000500" cy="1352516"/>
          </a:xfrm>
        </p:spPr>
        <p:txBody>
          <a:bodyPr anchor="t">
            <a:normAutofit/>
          </a:bodyPr>
          <a:lstStyle>
            <a:lvl1pPr>
              <a:defRPr sz="30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19456"/>
            <a:ext cx="2727930"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7899" y="219456"/>
            <a:ext cx="1747774" cy="338328"/>
          </a:xfrm>
        </p:spPr>
        <p:txBody>
          <a:bodyPr/>
          <a:lstStyle/>
          <a:p>
            <a:fld id="{45AAD6C3-5B35-44D9-A057-1183419C53D1}" type="datetimeFigureOut">
              <a:rPr lang="en-IN" smtClean="0"/>
              <a:t>19-08-2026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3948" y="216280"/>
            <a:ext cx="551113" cy="338328"/>
          </a:xfrm>
        </p:spPr>
        <p:txBody>
          <a:bodyPr/>
          <a:lstStyle/>
          <a:p>
            <a:fld id="{B608307A-36AD-4D75-AB5F-5D54DB10245D}" type="slidenum">
              <a:rPr lang="en-IN" smtClean="0"/>
              <a:t>‹#›</a:t>
            </a:fld>
            <a:endParaRPr lang="en-IN"/>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7899" y="1104900"/>
            <a:ext cx="6925002" cy="1352516"/>
          </a:xfrm>
        </p:spPr>
        <p:txBody>
          <a:bodyPr>
            <a:normAutofit/>
          </a:bodyPr>
          <a:lstStyle>
            <a:lvl1pPr marL="285750" indent="-285750">
              <a:buFont typeface="Arial" panose="020B0604020202020204" pitchFamily="34" charset="0"/>
              <a:buNone/>
              <a:defRPr sz="1400"/>
            </a:lvl1pPr>
            <a:lvl2pPr marL="514350" indent="-285750">
              <a:buFont typeface="Arial" panose="020B0604020202020204" pitchFamily="34" charset="0"/>
              <a:buNone/>
              <a:defRPr sz="1400"/>
            </a:lvl2pPr>
            <a:lvl3pPr marL="742950" indent="-285750">
              <a:buFont typeface="Arial" panose="020B0604020202020204" pitchFamily="34" charset="0"/>
              <a:buNone/>
              <a:defRPr sz="1400"/>
            </a:lvl3pPr>
            <a:lvl4pPr marL="857250" indent="-171450">
              <a:buFont typeface="Arial" panose="020B0604020202020204" pitchFamily="34" charset="0"/>
              <a:buNone/>
              <a:defRPr sz="1400"/>
            </a:lvl4pPr>
            <a:lvl5pPr marL="1085850" indent="-17145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2">
            <a:extLst>
              <a:ext uri="{FF2B5EF4-FFF2-40B4-BE49-F238E27FC236}">
                <a16:creationId xmlns:a16="http://schemas.microsoft.com/office/drawing/2014/main" id="{C346877B-7C99-D26C-DFEC-72A4289A8FAC}"/>
              </a:ext>
            </a:extLst>
          </p:cNvPr>
          <p:cNvSpPr>
            <a:spLocks noGrp="1"/>
          </p:cNvSpPr>
          <p:nvPr>
            <p:ph type="pic" sz="quarter" idx="15" hasCustomPrompt="1"/>
          </p:nvPr>
        </p:nvSpPr>
        <p:spPr>
          <a:xfrm>
            <a:off x="0" y="2938509"/>
            <a:ext cx="12192000" cy="3919491"/>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41237085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2514600" cy="2918919"/>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514600" cy="338328"/>
          </a:xfrm>
        </p:spPr>
        <p:txBody>
          <a:bodyPr/>
          <a:lstStyle>
            <a:lvl1pPr>
              <a:defRPr>
                <a:solidFill>
                  <a:schemeClr val="tx1"/>
                </a:solidFill>
                <a:effectLst/>
              </a:defRPr>
            </a:lvl1pPr>
          </a:lstStyle>
          <a:p>
            <a:endParaRPr lang="en-IN"/>
          </a:p>
        </p:txBody>
      </p:sp>
      <p:sp>
        <p:nvSpPr>
          <p:cNvPr id="9" name="Picture Placeholder 8">
            <a:extLst>
              <a:ext uri="{FF2B5EF4-FFF2-40B4-BE49-F238E27FC236}">
                <a16:creationId xmlns:a16="http://schemas.microsoft.com/office/drawing/2014/main" id="{1EB6A322-B3CC-9AE7-DB63-8B433811BD63}"/>
              </a:ext>
            </a:extLst>
          </p:cNvPr>
          <p:cNvSpPr>
            <a:spLocks noGrp="1"/>
          </p:cNvSpPr>
          <p:nvPr>
            <p:ph type="pic" sz="quarter" idx="15" hasCustomPrompt="1"/>
          </p:nvPr>
        </p:nvSpPr>
        <p:spPr>
          <a:xfrm>
            <a:off x="3423747" y="0"/>
            <a:ext cx="8768253" cy="3985719"/>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800" y="4077628"/>
            <a:ext cx="1920240" cy="338328"/>
          </a:xfrm>
        </p:spPr>
        <p:txBody>
          <a:bodyPr/>
          <a:lstStyle/>
          <a:p>
            <a:fld id="{45AAD6C3-5B35-44D9-A057-1183419C53D1}" type="datetimeFigureOut">
              <a:rPr lang="en-IN" smtClean="0"/>
              <a:t>19-08-2026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4077628"/>
            <a:ext cx="555948" cy="338328"/>
          </a:xfrm>
        </p:spPr>
        <p:txBody>
          <a:bodyPr/>
          <a:lstStyle>
            <a:lvl1pPr>
              <a:defRPr>
                <a:solidFill>
                  <a:schemeClr val="tx1"/>
                </a:solidFill>
                <a:effectLst/>
              </a:defRPr>
            </a:lvl1pPr>
          </a:lstStyle>
          <a:p>
            <a:fld id="{B608307A-36AD-4D75-AB5F-5D54DB10245D}" type="slidenum">
              <a:rPr lang="en-IN" smtClean="0"/>
              <a:t>‹#›</a:t>
            </a:fld>
            <a:endParaRPr lang="en-IN"/>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352800" y="4423576"/>
            <a:ext cx="8420100" cy="1824824"/>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053358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881339" y="1115568"/>
            <a:ext cx="5247577" cy="994131"/>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933700"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896579" y="209088"/>
            <a:ext cx="1844044" cy="338328"/>
          </a:xfrm>
        </p:spPr>
        <p:txBody>
          <a:bodyPr/>
          <a:lstStyle>
            <a:lvl1pPr>
              <a:defRPr>
                <a:solidFill>
                  <a:schemeClr val="tx1"/>
                </a:solidFill>
                <a:effectLst/>
              </a:defRPr>
            </a:lvl1pPr>
          </a:lstStyle>
          <a:p>
            <a:fld id="{45AAD6C3-5B35-44D9-A057-1183419C53D1}" type="datetimeFigureOut">
              <a:rPr lang="en-IN" smtClean="0"/>
              <a:t>19-08-2026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34185" y="209088"/>
            <a:ext cx="555948" cy="338328"/>
          </a:xfrm>
        </p:spPr>
        <p:txBody>
          <a:bodyPr/>
          <a:lstStyle/>
          <a:p>
            <a:fld id="{B608307A-36AD-4D75-AB5F-5D54DB10245D}" type="slidenum">
              <a:rPr lang="en-IN" smtClean="0"/>
              <a:t>‹#›</a:t>
            </a:fld>
            <a:endParaRPr lang="en-IN"/>
          </a:p>
        </p:txBody>
      </p:sp>
      <p:sp>
        <p:nvSpPr>
          <p:cNvPr id="4" name="Picture Placeholder 3">
            <a:extLst>
              <a:ext uri="{FF2B5EF4-FFF2-40B4-BE49-F238E27FC236}">
                <a16:creationId xmlns:a16="http://schemas.microsoft.com/office/drawing/2014/main" id="{F3BFBE8F-8803-50FD-04BC-3A247F9767CF}"/>
              </a:ext>
            </a:extLst>
          </p:cNvPr>
          <p:cNvSpPr>
            <a:spLocks noGrp="1"/>
          </p:cNvSpPr>
          <p:nvPr>
            <p:ph type="pic" sz="quarter" idx="15" hasCustomPrompt="1"/>
          </p:nvPr>
        </p:nvSpPr>
        <p:spPr>
          <a:xfrm>
            <a:off x="0" y="1181100"/>
            <a:ext cx="5247577" cy="567690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881339" y="2133600"/>
            <a:ext cx="5247577" cy="41148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29456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6057" y="1115568"/>
            <a:ext cx="3607670" cy="3170545"/>
          </a:xfrm>
        </p:spPr>
        <p:txBody>
          <a:bodyPr anchor="t">
            <a:normAutofit/>
          </a:bodyPr>
          <a:lstStyle>
            <a:lvl1pPr>
              <a:defRPr sz="30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4858"/>
            <a:ext cx="2597106"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5909" y="214858"/>
            <a:ext cx="1586711" cy="338328"/>
          </a:xfrm>
        </p:spPr>
        <p:txBody>
          <a:bodyPr/>
          <a:lstStyle/>
          <a:p>
            <a:fld id="{45AAD6C3-5B35-44D9-A057-1183419C53D1}" type="datetimeFigureOut">
              <a:rPr lang="en-IN" smtClean="0"/>
              <a:t>19-08-2026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7610" y="214858"/>
            <a:ext cx="555948" cy="338328"/>
          </a:xfrm>
        </p:spPr>
        <p:txBody>
          <a:bodyPr/>
          <a:lstStyle/>
          <a:p>
            <a:fld id="{B608307A-36AD-4D75-AB5F-5D54DB10245D}" type="slidenum">
              <a:rPr lang="en-IN" smtClean="0"/>
              <a:t>‹#›</a:t>
            </a:fld>
            <a:endParaRPr lang="en-IN"/>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5909" y="1112672"/>
            <a:ext cx="6926991" cy="1967808"/>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121707E4-5122-AA3B-7CFC-6AF9C0BAC463}"/>
              </a:ext>
            </a:extLst>
          </p:cNvPr>
          <p:cNvSpPr>
            <a:spLocks noGrp="1"/>
          </p:cNvSpPr>
          <p:nvPr>
            <p:ph type="pic" sz="quarter" idx="15" hasCustomPrompt="1"/>
          </p:nvPr>
        </p:nvSpPr>
        <p:spPr>
          <a:xfrm>
            <a:off x="4903079" y="3500203"/>
            <a:ext cx="7288921" cy="3357797"/>
          </a:xfrm>
          <a:custGeom>
            <a:avLst/>
            <a:gdLst>
              <a:gd name="connsiteX0" fmla="*/ 0 w 7391400"/>
              <a:gd name="connsiteY0" fmla="*/ 0 h 3018269"/>
              <a:gd name="connsiteX1" fmla="*/ 7391400 w 7391400"/>
              <a:gd name="connsiteY1" fmla="*/ 0 h 3018269"/>
              <a:gd name="connsiteX2" fmla="*/ 7391400 w 7391400"/>
              <a:gd name="connsiteY2" fmla="*/ 3018269 h 3018269"/>
              <a:gd name="connsiteX3" fmla="*/ 0 w 7391400"/>
              <a:gd name="connsiteY3" fmla="*/ 3018269 h 3018269"/>
            </a:gdLst>
            <a:ahLst/>
            <a:cxnLst>
              <a:cxn ang="0">
                <a:pos x="connsiteX0" y="connsiteY0"/>
              </a:cxn>
              <a:cxn ang="0">
                <a:pos x="connsiteX1" y="connsiteY1"/>
              </a:cxn>
              <a:cxn ang="0">
                <a:pos x="connsiteX2" y="connsiteY2"/>
              </a:cxn>
              <a:cxn ang="0">
                <a:pos x="connsiteX3" y="connsiteY3"/>
              </a:cxn>
            </a:cxnLst>
            <a:rect l="l" t="t" r="r" b="b"/>
            <a:pathLst>
              <a:path w="7391400" h="3018269">
                <a:moveTo>
                  <a:pt x="0" y="0"/>
                </a:moveTo>
                <a:lnTo>
                  <a:pt x="7391400" y="0"/>
                </a:lnTo>
                <a:lnTo>
                  <a:pt x="7391400" y="3018269"/>
                </a:lnTo>
                <a:lnTo>
                  <a:pt x="0" y="3018269"/>
                </a:ln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3187181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3429001"/>
            <a:ext cx="2501307" cy="2551982"/>
          </a:xfrm>
        </p:spPr>
        <p:txBody>
          <a:bodyPr anchor="t">
            <a:normAutofit/>
          </a:bodyPr>
          <a:lstStyle>
            <a:lvl1pPr>
              <a:defRPr sz="3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8402C8AD-A927-B946-5850-6500487D6883}"/>
              </a:ext>
            </a:extLst>
          </p:cNvPr>
          <p:cNvSpPr>
            <a:spLocks noGrp="1"/>
          </p:cNvSpPr>
          <p:nvPr>
            <p:ph type="pic" sz="quarter" idx="15" hasCustomPrompt="1"/>
          </p:nvPr>
        </p:nvSpPr>
        <p:spPr>
          <a:xfrm>
            <a:off x="0" y="1"/>
            <a:ext cx="12192000" cy="2705099"/>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865290"/>
            <a:ext cx="2726376"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799" y="2865290"/>
            <a:ext cx="1967345" cy="338328"/>
          </a:xfrm>
        </p:spPr>
        <p:txBody>
          <a:bodyPr/>
          <a:lstStyle/>
          <a:p>
            <a:fld id="{45AAD6C3-5B35-44D9-A057-1183419C53D1}" type="datetimeFigureOut">
              <a:rPr lang="en-IN" smtClean="0"/>
              <a:t>19-08-2026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2865290"/>
            <a:ext cx="555948" cy="338328"/>
          </a:xfrm>
        </p:spPr>
        <p:txBody>
          <a:bodyPr/>
          <a:lstStyle/>
          <a:p>
            <a:fld id="{B608307A-36AD-4D75-AB5F-5D54DB10245D}" type="slidenum">
              <a:rPr lang="en-IN" smtClean="0"/>
              <a:t>‹#›</a:t>
            </a:fld>
            <a:endParaRPr lang="en-IN"/>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352800" y="3429000"/>
            <a:ext cx="8210204" cy="3009900"/>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775224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6230" y="1115568"/>
            <a:ext cx="3603256" cy="1409878"/>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38700" y="209088"/>
            <a:ext cx="2514600" cy="338328"/>
          </a:xfrm>
        </p:spPr>
        <p:txBody>
          <a:bodyPr/>
          <a:lstStyle/>
          <a:p>
            <a:fld id="{45AAD6C3-5B35-44D9-A057-1183419C53D1}" type="datetimeFigureOut">
              <a:rPr lang="en-IN" smtClean="0"/>
              <a:t>19-08-2026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86019" y="219456"/>
            <a:ext cx="564341" cy="338328"/>
          </a:xfrm>
        </p:spPr>
        <p:txBody>
          <a:bodyPr/>
          <a:lstStyle>
            <a:lvl1pPr>
              <a:defRPr>
                <a:solidFill>
                  <a:schemeClr val="tx1"/>
                </a:solidFill>
                <a:effectLst/>
              </a:defRPr>
            </a:lvl1pPr>
          </a:lstStyle>
          <a:p>
            <a:fld id="{B608307A-36AD-4D75-AB5F-5D54DB10245D}" type="slidenum">
              <a:rPr lang="en-IN" smtClean="0"/>
              <a:t>‹#›</a:t>
            </a:fld>
            <a:endParaRPr lang="en-IN"/>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46230" y="2705100"/>
            <a:ext cx="3603256" cy="36957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183D1CED-EDC4-B2B7-E11C-EF0ED41A9136}"/>
              </a:ext>
            </a:extLst>
          </p:cNvPr>
          <p:cNvSpPr>
            <a:spLocks noGrp="1"/>
          </p:cNvSpPr>
          <p:nvPr>
            <p:ph type="pic" sz="quarter" idx="15" hasCustomPrompt="1"/>
          </p:nvPr>
        </p:nvSpPr>
        <p:spPr>
          <a:xfrm>
            <a:off x="4935269" y="1175658"/>
            <a:ext cx="7256731" cy="5682342"/>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5891861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4607626"/>
            <a:ext cx="4419600" cy="1640774"/>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04508209-B462-E74A-288F-8910B06DE3A1}"/>
              </a:ext>
            </a:extLst>
          </p:cNvPr>
          <p:cNvSpPr>
            <a:spLocks noGrp="1"/>
          </p:cNvSpPr>
          <p:nvPr>
            <p:ph type="pic" sz="quarter" idx="15" hasCustomPrompt="1"/>
          </p:nvPr>
        </p:nvSpPr>
        <p:spPr>
          <a:xfrm>
            <a:off x="1914" y="0"/>
            <a:ext cx="4836786" cy="4214191"/>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541275" y="209088"/>
            <a:ext cx="2726376"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905250" cy="338328"/>
          </a:xfrm>
        </p:spPr>
        <p:txBody>
          <a:bodyPr/>
          <a:lstStyle>
            <a:lvl1pPr>
              <a:defRPr>
                <a:solidFill>
                  <a:schemeClr val="tx1"/>
                </a:solidFill>
                <a:effectLst/>
              </a:defRPr>
            </a:lvl1pPr>
          </a:lstStyle>
          <a:p>
            <a:fld id="{45AAD6C3-5B35-44D9-A057-1183419C53D1}" type="datetimeFigureOut">
              <a:rPr lang="en-IN" smtClean="0"/>
              <a:t>19-08-2026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B608307A-36AD-4D75-AB5F-5D54DB10245D}" type="slidenum">
              <a:rPr lang="en-IN" smtClean="0"/>
              <a:t>‹#›</a:t>
            </a:fld>
            <a:endParaRPr lang="en-IN"/>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41276" y="1104900"/>
            <a:ext cx="5750381" cy="5143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410233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3105335" cy="1636510"/>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726376"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055522" y="214858"/>
            <a:ext cx="2536988" cy="338328"/>
          </a:xfrm>
        </p:spPr>
        <p:txBody>
          <a:bodyPr/>
          <a:lstStyle/>
          <a:p>
            <a:fld id="{45AAD6C3-5B35-44D9-A057-1183419C53D1}" type="datetimeFigureOut">
              <a:rPr lang="en-IN" smtClean="0"/>
              <a:t>19-08-2026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2840" y="214858"/>
            <a:ext cx="555948" cy="338328"/>
          </a:xfrm>
        </p:spPr>
        <p:txBody>
          <a:bodyPr/>
          <a:lstStyle/>
          <a:p>
            <a:fld id="{B608307A-36AD-4D75-AB5F-5D54DB10245D}" type="slidenum">
              <a:rPr lang="en-IN" smtClean="0"/>
              <a:t>‹#›</a:t>
            </a:fld>
            <a:endParaRPr lang="en-IN"/>
          </a:p>
        </p:txBody>
      </p:sp>
      <p:sp>
        <p:nvSpPr>
          <p:cNvPr id="4" name="Picture Placeholder 3">
            <a:extLst>
              <a:ext uri="{FF2B5EF4-FFF2-40B4-BE49-F238E27FC236}">
                <a16:creationId xmlns:a16="http://schemas.microsoft.com/office/drawing/2014/main" id="{EA8D0EC2-AB64-20F7-00E1-73B35DEAA2D7}"/>
              </a:ext>
            </a:extLst>
          </p:cNvPr>
          <p:cNvSpPr>
            <a:spLocks noGrp="1"/>
          </p:cNvSpPr>
          <p:nvPr>
            <p:ph type="pic" sz="quarter" idx="15" hasCustomPrompt="1"/>
          </p:nvPr>
        </p:nvSpPr>
        <p:spPr>
          <a:xfrm>
            <a:off x="1" y="3017520"/>
            <a:ext cx="3417902" cy="384048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055522" y="1104901"/>
            <a:ext cx="7476571" cy="53339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629240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C26FEAF5-B987-7B83-7D1F-A4C535E2B000}"/>
              </a:ext>
            </a:extLst>
          </p:cNvPr>
          <p:cNvPicPr>
            <a:picLocks noChangeAspect="1"/>
          </p:cNvPicPr>
          <p:nvPr/>
        </p:nvPicPr>
        <p:blipFill>
          <a:blip r:embed="rId2">
            <a:extLst>
              <a:ext uri="{28A0092B-C50C-407E-A947-70E740481C1C}">
                <a14:useLocalDpi xmlns:a14="http://schemas.microsoft.com/office/drawing/2010/main" val="0"/>
              </a:ext>
            </a:extLst>
          </a:blip>
          <a:srcRect t="17701" r="5781"/>
          <a:stretch>
            <a:fillRect/>
          </a:stretch>
        </p:blipFill>
        <p:spPr>
          <a:xfrm rot="10800000" flipH="1">
            <a:off x="0" y="-1"/>
            <a:ext cx="12192000" cy="6864096"/>
          </a:xfrm>
          <a:prstGeom prst="rect">
            <a:avLst/>
          </a:prstGeom>
        </p:spPr>
      </p:pic>
      <p:sp>
        <p:nvSpPr>
          <p:cNvPr id="9" name="Title 8">
            <a:extLst>
              <a:ext uri="{FF2B5EF4-FFF2-40B4-BE49-F238E27FC236}">
                <a16:creationId xmlns:a16="http://schemas.microsoft.com/office/drawing/2014/main" id="{E9DD887D-B316-418B-8AF4-4F941223A039}"/>
              </a:ext>
            </a:extLst>
          </p:cNvPr>
          <p:cNvSpPr>
            <a:spLocks noGrp="1"/>
          </p:cNvSpPr>
          <p:nvPr>
            <p:ph type="title"/>
          </p:nvPr>
        </p:nvSpPr>
        <p:spPr>
          <a:xfrm>
            <a:off x="7772400" y="5082379"/>
            <a:ext cx="4000500" cy="1169230"/>
          </a:xfrm>
        </p:spPr>
        <p:txBody>
          <a:bodyPr anchor="b">
            <a:normAutofit/>
          </a:bodyPr>
          <a:lstStyle>
            <a:lvl1pPr>
              <a:defRPr sz="2000" spc="-50" baseline="0"/>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a:xfrm>
            <a:off x="7772400" y="209088"/>
            <a:ext cx="1970690" cy="338328"/>
          </a:xfrm>
        </p:spPr>
        <p:txBody>
          <a:bodyPr/>
          <a:lstStyle>
            <a:lvl1pPr>
              <a:defRPr>
                <a:solidFill>
                  <a:schemeClr val="tx1"/>
                </a:solidFill>
              </a:defRPr>
            </a:lvl1pPr>
          </a:lstStyle>
          <a:p>
            <a:fld id="{45AAD6C3-5B35-44D9-A057-1183419C53D1}" type="datetimeFigureOut">
              <a:rPr lang="en-IN" smtClean="0"/>
              <a:t>19-08-2026</a:t>
            </a:fld>
            <a:endParaRPr lang="en-IN"/>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B608307A-36AD-4D75-AB5F-5D54DB10245D}" type="slidenum">
              <a:rPr lang="en-IN" smtClean="0"/>
              <a:t>‹#›</a:t>
            </a:fld>
            <a:endParaRPr lang="en-IN"/>
          </a:p>
        </p:txBody>
      </p:sp>
      <p:sp>
        <p:nvSpPr>
          <p:cNvPr id="12" name="Content Placeholder 11">
            <a:extLst>
              <a:ext uri="{FF2B5EF4-FFF2-40B4-BE49-F238E27FC236}">
                <a16:creationId xmlns:a16="http://schemas.microsoft.com/office/drawing/2014/main" id="{942D9118-C154-84FE-9D86-92525287F07F}"/>
              </a:ext>
            </a:extLst>
          </p:cNvPr>
          <p:cNvSpPr>
            <a:spLocks noGrp="1"/>
          </p:cNvSpPr>
          <p:nvPr>
            <p:ph sz="quarter" idx="14" hasCustomPrompt="1"/>
          </p:nvPr>
        </p:nvSpPr>
        <p:spPr>
          <a:xfrm>
            <a:off x="280988" y="1063625"/>
            <a:ext cx="10428287" cy="3508375"/>
          </a:xfrm>
        </p:spPr>
        <p:txBody>
          <a:bodyPr>
            <a:noAutofit/>
          </a:bodyPr>
          <a:lstStyle>
            <a:lvl1pPr>
              <a:lnSpc>
                <a:spcPct val="80000"/>
              </a:lnSpc>
              <a:defRPr sz="26000"/>
            </a:lvl1pPr>
          </a:lstStyle>
          <a:p>
            <a:pPr lvl="0"/>
            <a:r>
              <a:rPr lang="en-US" dirty="0"/>
              <a:t>XX%</a:t>
            </a:r>
          </a:p>
        </p:txBody>
      </p:sp>
    </p:spTree>
    <p:extLst>
      <p:ext uri="{BB962C8B-B14F-4D97-AF65-F5344CB8AC3E}">
        <p14:creationId xmlns:p14="http://schemas.microsoft.com/office/powerpoint/2010/main" val="40456046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pic>
        <p:nvPicPr>
          <p:cNvPr id="6" name="Picture 5" descr="A red and purple light&#10;&#10;AI-generated content may be incorrect.">
            <a:extLst>
              <a:ext uri="{FF2B5EF4-FFF2-40B4-BE49-F238E27FC236}">
                <a16:creationId xmlns:a16="http://schemas.microsoft.com/office/drawing/2014/main" id="{27A6C04A-3EE2-7293-8111-E4CF6B18B2D4}"/>
              </a:ext>
            </a:extLst>
          </p:cNvPr>
          <p:cNvPicPr>
            <a:picLocks noChangeAspect="1"/>
          </p:cNvPicPr>
          <p:nvPr/>
        </p:nvPicPr>
        <p:blipFill>
          <a:blip r:embed="rId2">
            <a:extLst>
              <a:ext uri="{28A0092B-C50C-407E-A947-70E740481C1C}">
                <a14:useLocalDpi xmlns:a14="http://schemas.microsoft.com/office/drawing/2010/main" val="0"/>
              </a:ext>
            </a:extLst>
          </a:blip>
          <a:srcRect l="7784" t="57458" r="22221" b="1"/>
          <a:stretch>
            <a:fillRect/>
          </a:stretch>
        </p:blipFill>
        <p:spPr>
          <a:xfrm rot="10800000">
            <a:off x="0" y="0"/>
            <a:ext cx="12192000" cy="4802819"/>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45AAD6C3-5B35-44D9-A057-1183419C53D1}" type="datetimeFigureOut">
              <a:rPr lang="en-IN" smtClean="0"/>
              <a:t>19-08-2026</a:t>
            </a:fld>
            <a:endParaRPr lang="en-IN"/>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B608307A-36AD-4D75-AB5F-5D54DB10245D}" type="slidenum">
              <a:rPr lang="en-IN" smtClean="0"/>
              <a:t>‹#›</a:t>
            </a:fld>
            <a:endParaRPr lang="en-IN"/>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9099" y="2885606"/>
            <a:ext cx="8801101" cy="3553293"/>
          </a:xfrm>
        </p:spPr>
        <p:txBody>
          <a:bodyPr anchor="b">
            <a:normAutofit/>
          </a:bodyPr>
          <a:lstStyle>
            <a:lvl1pPr marL="0" indent="0">
              <a:lnSpc>
                <a:spcPct val="85000"/>
              </a:lnSpc>
              <a:buNone/>
              <a:defRPr sz="6000" b="0" spc="-50" baseline="0">
                <a:solidFill>
                  <a:schemeClr val="tx1"/>
                </a:solidFill>
              </a:defRPr>
            </a:lvl1pPr>
            <a:lvl2pPr marL="228600" indent="0">
              <a:lnSpc>
                <a:spcPct val="85000"/>
              </a:lnSpc>
              <a:buNone/>
              <a:defRPr sz="4400" b="0" spc="-50" baseline="0">
                <a:solidFill>
                  <a:schemeClr val="tx1"/>
                </a:solidFill>
              </a:defRPr>
            </a:lvl2pPr>
            <a:lvl3pPr marL="457200" indent="0">
              <a:lnSpc>
                <a:spcPct val="85000"/>
              </a:lnSpc>
              <a:buNone/>
              <a:defRPr sz="4000" b="0" spc="-50" baseline="0">
                <a:solidFill>
                  <a:schemeClr val="tx1"/>
                </a:solidFill>
              </a:defRPr>
            </a:lvl3pPr>
            <a:lvl4pPr marL="685800" indent="0">
              <a:lnSpc>
                <a:spcPct val="85000"/>
              </a:lnSpc>
              <a:buNone/>
              <a:defRPr sz="3600" b="0" spc="-50" baseline="0">
                <a:solidFill>
                  <a:schemeClr val="tx1"/>
                </a:solidFill>
              </a:defRPr>
            </a:lvl4pPr>
            <a:lvl5pPr marL="914400" indent="0">
              <a:lnSpc>
                <a:spcPct val="85000"/>
              </a:lnSpc>
              <a:buNone/>
              <a:defRPr sz="3200" b="0" spc="-50"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980344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56ABB8EC-1098-DCAC-E2E3-BCA53EEC625D}"/>
              </a:ext>
            </a:extLst>
          </p:cNvPr>
          <p:cNvPicPr>
            <a:picLocks noChangeAspect="1"/>
          </p:cNvPicPr>
          <p:nvPr/>
        </p:nvPicPr>
        <p:blipFill>
          <a:blip r:embed="rId2">
            <a:extLst>
              <a:ext uri="{28A0092B-C50C-407E-A947-70E740481C1C}">
                <a14:useLocalDpi xmlns:a14="http://schemas.microsoft.com/office/drawing/2010/main" val="0"/>
              </a:ext>
            </a:extLst>
          </a:blip>
          <a:srcRect l="1291" t="22024" r="10011"/>
          <a:stretch>
            <a:fillRect/>
          </a:stretch>
        </p:blipFill>
        <p:spPr>
          <a:xfrm rot="10800000" flipH="1">
            <a:off x="0" y="0"/>
            <a:ext cx="12192000" cy="6864096"/>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866899" y="4874218"/>
            <a:ext cx="8506567" cy="666427"/>
          </a:xfrm>
        </p:spPr>
        <p:txBody>
          <a:bodyPr anchor="ctr">
            <a:normAutofit/>
          </a:bodyPr>
          <a:lstStyle>
            <a:lvl1pPr algn="r">
              <a:lnSpc>
                <a:spcPct val="90000"/>
              </a:lnSpc>
              <a:defRPr sz="1400" b="0" cap="all" spc="100" baseline="0">
                <a:solidFill>
                  <a:schemeClr val="tx1"/>
                </a:solidFill>
              </a:defRPr>
            </a:lvl1pPr>
          </a:lstStyle>
          <a:p>
            <a:r>
              <a:rPr lang="en-US" dirty="0"/>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45AAD6C3-5B35-44D9-A057-1183419C53D1}" type="datetimeFigureOut">
              <a:rPr lang="en-IN" smtClean="0"/>
              <a:t>19-08-2026</a:t>
            </a:fld>
            <a:endParaRPr lang="en-IN"/>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B608307A-36AD-4D75-AB5F-5D54DB10245D}" type="slidenum">
              <a:rPr lang="en-IN" smtClean="0"/>
              <a:t>‹#›</a:t>
            </a:fld>
            <a:endParaRPr lang="en-IN"/>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866899" y="1856096"/>
            <a:ext cx="8506567" cy="2855388"/>
          </a:xfrm>
        </p:spPr>
        <p:txBody>
          <a:bodyPr anchor="ctr">
            <a:normAutofit/>
          </a:bodyPr>
          <a:lstStyle>
            <a:lvl1pPr marL="164592" indent="-164592">
              <a:lnSpc>
                <a:spcPct val="90000"/>
              </a:lnSpc>
              <a:spcBef>
                <a:spcPts val="0"/>
              </a:spcBef>
              <a:buFont typeface="Arial" panose="020B0604020202020204" pitchFamily="34" charset="0"/>
              <a:buNone/>
              <a:defRPr sz="5000" spc="-50" baseline="0">
                <a:solidFill>
                  <a:schemeClr val="tx1"/>
                </a:solidFill>
              </a:defRPr>
            </a:lvl1pPr>
          </a:lstStyle>
          <a:p>
            <a:pPr lvl="0"/>
            <a:r>
              <a:rPr lang="en-US" dirty="0"/>
              <a:t>Click to add Quote</a:t>
            </a:r>
          </a:p>
        </p:txBody>
      </p:sp>
    </p:spTree>
    <p:extLst>
      <p:ext uri="{BB962C8B-B14F-4D97-AF65-F5344CB8AC3E}">
        <p14:creationId xmlns:p14="http://schemas.microsoft.com/office/powerpoint/2010/main" val="30405401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8382000" cy="701657"/>
          </a:xfrm>
        </p:spPr>
        <p:txBody>
          <a:bodyPr/>
          <a:lstStyle>
            <a:lvl1pPr>
              <a:defRPr>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45AAD6C3-5B35-44D9-A057-1183419C53D1}" type="datetimeFigureOut">
              <a:rPr lang="en-IN" smtClean="0"/>
              <a:t>19-08-2026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B608307A-36AD-4D75-AB5F-5D54DB10245D}" type="slidenum">
              <a:rPr lang="en-IN" smtClean="0"/>
              <a:t>‹#›</a:t>
            </a:fld>
            <a:endParaRPr lang="en-IN"/>
          </a:p>
        </p:txBody>
      </p:sp>
      <p:sp>
        <p:nvSpPr>
          <p:cNvPr id="4" name="Content Placeholder 3">
            <a:extLst>
              <a:ext uri="{FF2B5EF4-FFF2-40B4-BE49-F238E27FC236}">
                <a16:creationId xmlns:a16="http://schemas.microsoft.com/office/drawing/2014/main" id="{704CA46A-141E-21AB-51BA-BA1F0F395708}"/>
              </a:ext>
            </a:extLst>
          </p:cNvPr>
          <p:cNvSpPr>
            <a:spLocks noGrp="1"/>
          </p:cNvSpPr>
          <p:nvPr>
            <p:ph sz="quarter" idx="15"/>
          </p:nvPr>
        </p:nvSpPr>
        <p:spPr>
          <a:xfrm>
            <a:off x="431800"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F8607D36-7013-02AC-69A9-8D38C5BBA7D0}"/>
              </a:ext>
            </a:extLst>
          </p:cNvPr>
          <p:cNvSpPr>
            <a:spLocks noGrp="1"/>
          </p:cNvSpPr>
          <p:nvPr>
            <p:ph sz="quarter" idx="16"/>
          </p:nvPr>
        </p:nvSpPr>
        <p:spPr>
          <a:xfrm>
            <a:off x="5878824"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34565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18655" y="932098"/>
            <a:ext cx="10835539" cy="704088"/>
          </a:xfrm>
        </p:spPr>
        <p:txBody>
          <a:bodyPr/>
          <a:lstStyle>
            <a:lvl1pPr>
              <a:defRPr>
                <a:solidFill>
                  <a:schemeClr val="tx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endParaRPr lang="en-IN"/>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8801100" y="214858"/>
            <a:ext cx="1920240" cy="338328"/>
          </a:xfrm>
        </p:spPr>
        <p:txBody>
          <a:bodyPr/>
          <a:lstStyle>
            <a:lvl1pPr>
              <a:defRPr>
                <a:solidFill>
                  <a:schemeClr val="tx1"/>
                </a:solidFill>
              </a:defRPr>
            </a:lvl1pPr>
          </a:lstStyle>
          <a:p>
            <a:fld id="{45AAD6C3-5B35-44D9-A057-1183419C53D1}" type="datetimeFigureOut">
              <a:rPr lang="en-IN" smtClean="0"/>
              <a:t>19-08-2026</a:t>
            </a:fld>
            <a:endParaRPr lang="en-IN"/>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B608307A-36AD-4D75-AB5F-5D54DB10245D}" type="slidenum">
              <a:rPr lang="en-IN" smtClean="0"/>
              <a:t>‹#›</a:t>
            </a:fld>
            <a:endParaRPr lang="en-IN"/>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18654" y="1675614"/>
            <a:ext cx="4913919"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854769-C5D8-1BF0-C3A2-77216D6255DB}"/>
              </a:ext>
            </a:extLst>
          </p:cNvPr>
          <p:cNvSpPr>
            <a:spLocks noGrp="1"/>
          </p:cNvSpPr>
          <p:nvPr>
            <p:ph sz="quarter" idx="15"/>
          </p:nvPr>
        </p:nvSpPr>
        <p:spPr>
          <a:xfrm>
            <a:off x="431800" y="2285022"/>
            <a:ext cx="4900773"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6500" y="1675614"/>
            <a:ext cx="4967694"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B3527224-4234-3620-766D-DCCA3AFDF896}"/>
              </a:ext>
            </a:extLst>
          </p:cNvPr>
          <p:cNvSpPr>
            <a:spLocks noGrp="1"/>
          </p:cNvSpPr>
          <p:nvPr>
            <p:ph sz="quarter" idx="16"/>
          </p:nvPr>
        </p:nvSpPr>
        <p:spPr>
          <a:xfrm>
            <a:off x="6279401" y="2285022"/>
            <a:ext cx="4982762"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990596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20791" y="1113510"/>
            <a:ext cx="8380309" cy="876193"/>
          </a:xfrm>
        </p:spPr>
        <p:txBody>
          <a:bodyPr/>
          <a:lstStyle>
            <a:lvl1pPr>
              <a:defRPr>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45AAD6C3-5B35-44D9-A057-1183419C53D1}" type="datetimeFigureOut">
              <a:rPr lang="en-IN" smtClean="0"/>
              <a:t>19-08-2026</a:t>
            </a:fld>
            <a:endParaRPr lang="en-IN"/>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B608307A-36AD-4D75-AB5F-5D54DB10245D}" type="slidenum">
              <a:rPr lang="en-IN" smtClean="0"/>
              <a:t>‹#›</a:t>
            </a:fld>
            <a:endParaRPr lang="en-IN"/>
          </a:p>
        </p:txBody>
      </p:sp>
    </p:spTree>
    <p:extLst>
      <p:ext uri="{BB962C8B-B14F-4D97-AF65-F5344CB8AC3E}">
        <p14:creationId xmlns:p14="http://schemas.microsoft.com/office/powerpoint/2010/main" val="216042779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endParaRPr lang="en-IN"/>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45AAD6C3-5B35-44D9-A057-1183419C53D1}" type="datetimeFigureOut">
              <a:rPr lang="en-IN" smtClean="0"/>
              <a:t>19-08-2026</a:t>
            </a:fld>
            <a:endParaRPr lang="en-IN"/>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B608307A-36AD-4D75-AB5F-5D54DB10245D}" type="slidenum">
              <a:rPr lang="en-IN" smtClean="0"/>
              <a:t>‹#›</a:t>
            </a:fld>
            <a:endParaRPr lang="en-IN"/>
          </a:p>
        </p:txBody>
      </p:sp>
    </p:spTree>
    <p:extLst>
      <p:ext uri="{BB962C8B-B14F-4D97-AF65-F5344CB8AC3E}">
        <p14:creationId xmlns:p14="http://schemas.microsoft.com/office/powerpoint/2010/main" val="254738736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pic>
        <p:nvPicPr>
          <p:cNvPr id="7" name="Picture 6" descr="A red and purple light&#10;&#10;AI-generated content may be incorrect.">
            <a:extLst>
              <a:ext uri="{FF2B5EF4-FFF2-40B4-BE49-F238E27FC236}">
                <a16:creationId xmlns:a16="http://schemas.microsoft.com/office/drawing/2014/main" id="{CC69B319-31FA-514C-5A82-30B4D1B20A23}"/>
              </a:ext>
            </a:extLst>
          </p:cNvPr>
          <p:cNvPicPr>
            <a:picLocks noChangeAspect="1"/>
          </p:cNvPicPr>
          <p:nvPr/>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758952"/>
            <a:ext cx="7609668" cy="1734866"/>
          </a:xfrm>
        </p:spPr>
        <p:txBody>
          <a:bodyPr anchor="t">
            <a:noAutofit/>
          </a:bodyPr>
          <a:lstStyle>
            <a:lvl1pPr>
              <a:defRPr sz="7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45AAD6C3-5B35-44D9-A057-1183419C53D1}" type="datetimeFigureOut">
              <a:rPr lang="en-IN" smtClean="0"/>
              <a:t>19-08-2026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B608307A-36AD-4D75-AB5F-5D54DB10245D}" type="slidenum">
              <a:rPr lang="en-IN" smtClean="0"/>
              <a:t>‹#›</a:t>
            </a:fld>
            <a:endParaRPr lang="en-IN"/>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100" y="2705101"/>
            <a:ext cx="8801100" cy="2947550"/>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067424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pic>
        <p:nvPicPr>
          <p:cNvPr id="3" name="Picture 2" descr="A red and purple light&#10;&#10;AI-generated content may be incorrect.">
            <a:extLst>
              <a:ext uri="{FF2B5EF4-FFF2-40B4-BE49-F238E27FC236}">
                <a16:creationId xmlns:a16="http://schemas.microsoft.com/office/drawing/2014/main" id="{86565871-9318-EC0D-5245-A159818CA83F}"/>
              </a:ext>
            </a:extLst>
          </p:cNvPr>
          <p:cNvPicPr>
            <a:picLocks noChangeAspect="1"/>
          </p:cNvPicPr>
          <p:nvPr/>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9" name="Title 8">
            <a:extLst>
              <a:ext uri="{FF2B5EF4-FFF2-40B4-BE49-F238E27FC236}">
                <a16:creationId xmlns:a16="http://schemas.microsoft.com/office/drawing/2014/main" id="{687F1B09-5020-D2DD-189E-7226AD232923}"/>
              </a:ext>
            </a:extLst>
          </p:cNvPr>
          <p:cNvSpPr>
            <a:spLocks noGrp="1"/>
          </p:cNvSpPr>
          <p:nvPr>
            <p:ph type="title"/>
          </p:nvPr>
        </p:nvSpPr>
        <p:spPr>
          <a:xfrm>
            <a:off x="420792" y="2704772"/>
            <a:ext cx="5465660" cy="2733384"/>
          </a:xfrm>
        </p:spPr>
        <p:txBody>
          <a:bodyPr/>
          <a:lstStyle>
            <a:lvl1pPr>
              <a:defRPr sz="7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45AAD6C3-5B35-44D9-A057-1183419C53D1}" type="datetimeFigureOut">
              <a:rPr lang="en-IN" smtClean="0"/>
              <a:t>19-08-2026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B608307A-36AD-4D75-AB5F-5D54DB10245D}" type="slidenum">
              <a:rPr lang="en-IN" smtClean="0"/>
              <a:t>‹#›</a:t>
            </a:fld>
            <a:endParaRPr lang="en-IN"/>
          </a:p>
        </p:txBody>
      </p:sp>
      <p:sp>
        <p:nvSpPr>
          <p:cNvPr id="12" name="Content Placeholder 11">
            <a:extLst>
              <a:ext uri="{FF2B5EF4-FFF2-40B4-BE49-F238E27FC236}">
                <a16:creationId xmlns:a16="http://schemas.microsoft.com/office/drawing/2014/main" id="{8492B719-9068-0A96-E408-4EB3E9F85BE9}"/>
              </a:ext>
            </a:extLst>
          </p:cNvPr>
          <p:cNvSpPr>
            <a:spLocks noGrp="1"/>
          </p:cNvSpPr>
          <p:nvPr>
            <p:ph sz="quarter" idx="15"/>
          </p:nvPr>
        </p:nvSpPr>
        <p:spPr>
          <a:xfrm>
            <a:off x="6305550" y="2705100"/>
            <a:ext cx="4410075" cy="15621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682487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20791" y="1113510"/>
            <a:ext cx="9942409" cy="876193"/>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29417" y="2133600"/>
            <a:ext cx="9942409" cy="4305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432393" y="214858"/>
            <a:ext cx="2726376" cy="338328"/>
          </a:xfrm>
          <a:prstGeom prst="rect">
            <a:avLst/>
          </a:prstGeom>
        </p:spPr>
        <p:txBody>
          <a:bodyPr vert="horz" lIns="91440" tIns="45720" rIns="91440" bIns="45720" rtlCol="0" anchor="ctr"/>
          <a:lstStyle>
            <a:lvl1pPr algn="l" rtl="0">
              <a:defRPr sz="700" cap="all" baseline="0">
                <a:solidFill>
                  <a:schemeClr val="tx1"/>
                </a:solidFill>
              </a:defRPr>
            </a:lvl1pPr>
          </a:lstStyle>
          <a:p>
            <a:endParaRPr lang="en-IN"/>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01100" y="214858"/>
            <a:ext cx="1920240" cy="338328"/>
          </a:xfrm>
          <a:prstGeom prst="rect">
            <a:avLst/>
          </a:prstGeom>
        </p:spPr>
        <p:txBody>
          <a:bodyPr vert="horz" lIns="91440" tIns="45720" rIns="91440" bIns="45720" rtlCol="0" anchor="ctr"/>
          <a:lstStyle>
            <a:lvl1pPr algn="l" rtl="0">
              <a:defRPr sz="700" cap="all" baseline="0">
                <a:solidFill>
                  <a:schemeClr val="tx1"/>
                </a:solidFill>
              </a:defRPr>
            </a:lvl1pPr>
          </a:lstStyle>
          <a:p>
            <a:fld id="{45AAD6C3-5B35-44D9-A057-1183419C53D1}" type="datetimeFigureOut">
              <a:rPr lang="en-IN" smtClean="0"/>
              <a:t>19-08-2026</a:t>
            </a:fld>
            <a:endParaRPr lang="en-IN"/>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291657" y="214858"/>
            <a:ext cx="555948" cy="338328"/>
          </a:xfrm>
          <a:prstGeom prst="rect">
            <a:avLst/>
          </a:prstGeom>
        </p:spPr>
        <p:txBody>
          <a:bodyPr vert="horz" lIns="91440" tIns="45720" rIns="91440" bIns="45720" rtlCol="0" anchor="ctr"/>
          <a:lstStyle>
            <a:lvl1pPr algn="r" rtl="0">
              <a:defRPr sz="700" cap="all" baseline="0">
                <a:solidFill>
                  <a:schemeClr val="tx1"/>
                </a:solidFill>
              </a:defRPr>
            </a:lvl1pPr>
          </a:lstStyle>
          <a:p>
            <a:fld id="{B608307A-36AD-4D75-AB5F-5D54DB10245D}" type="slidenum">
              <a:rPr lang="en-IN" smtClean="0"/>
              <a:t>‹#›</a:t>
            </a:fld>
            <a:endParaRPr lang="en-IN"/>
          </a:p>
        </p:txBody>
      </p:sp>
    </p:spTree>
    <p:extLst>
      <p:ext uri="{BB962C8B-B14F-4D97-AF65-F5344CB8AC3E}">
        <p14:creationId xmlns:p14="http://schemas.microsoft.com/office/powerpoint/2010/main" val="892792337"/>
      </p:ext>
    </p:extLst>
  </p:cSld>
  <p:clrMap bg1="dk1" tx1="lt1" bg2="dk2" tx2="lt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 id="2147483706" r:id="rId18"/>
    <p:sldLayoutId id="2147483707" r:id="rId19"/>
    <p:sldLayoutId id="2147483708" r:id="rId20"/>
    <p:sldLayoutId id="2147483709" r:id="rId21"/>
    <p:sldLayoutId id="2147483710" r:id="rId22"/>
    <p:sldLayoutId id="2147483711" r:id="rId23"/>
    <p:sldLayoutId id="2147483712" r:id="rId24"/>
    <p:sldLayoutId id="2147483713" r:id="rId25"/>
    <p:sldLayoutId id="2147483714" r:id="rId26"/>
    <p:sldLayoutId id="2147483715" r:id="rId27"/>
  </p:sldLayoutIdLst>
  <p:txStyles>
    <p:titleStyle>
      <a:lvl1pPr algn="l" defTabSz="914400" rtl="0" eaLnBrk="1" latinLnBrk="0" hangingPunct="1">
        <a:lnSpc>
          <a:spcPct val="85000"/>
        </a:lnSpc>
        <a:spcBef>
          <a:spcPct val="0"/>
        </a:spcBef>
        <a:buNone/>
        <a:defRPr sz="3000" b="0" kern="1200" spc="-11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64">
          <p15:clr>
            <a:srgbClr val="F26B43"/>
          </p15:clr>
        </p15:guide>
        <p15:guide id="4" orient="horz" pos="264">
          <p15:clr>
            <a:srgbClr val="F26B43"/>
          </p15:clr>
        </p15:guide>
        <p15:guide id="5" pos="7416">
          <p15:clr>
            <a:srgbClr val="F26B43"/>
          </p15:clr>
        </p15:guide>
        <p15:guide id="12" pos="4632">
          <p15:clr>
            <a:srgbClr val="F26B43"/>
          </p15:clr>
        </p15:guide>
        <p15:guide id="13" pos="5544">
          <p15:clr>
            <a:srgbClr val="F26B43"/>
          </p15:clr>
        </p15:guide>
        <p15:guide id="26" pos="2784">
          <p15:clr>
            <a:srgbClr val="F26B43"/>
          </p15:clr>
        </p15:guide>
        <p15:guide id="27" pos="3048">
          <p15:clr>
            <a:srgbClr val="F26B43"/>
          </p15:clr>
        </p15:guide>
        <p15:guide id="29" pos="3960">
          <p15:clr>
            <a:srgbClr val="F26B43"/>
          </p15:clr>
        </p15:guide>
        <p15:guide id="30" pos="1176">
          <p15:clr>
            <a:srgbClr val="F26B43"/>
          </p15:clr>
        </p15:guide>
        <p15:guide id="31" pos="912">
          <p15:clr>
            <a:srgbClr val="F26B43"/>
          </p15:clr>
        </p15:guide>
        <p15:guide id="32" pos="3696">
          <p15:clr>
            <a:srgbClr val="F26B43"/>
          </p15:clr>
        </p15:guide>
        <p15:guide id="33" pos="1848">
          <p15:clr>
            <a:srgbClr val="F26B43"/>
          </p15:clr>
        </p15:guide>
        <p15:guide id="34" pos="2112">
          <p15:clr>
            <a:srgbClr val="F26B43"/>
          </p15:clr>
        </p15:guide>
        <p15:guide id="36" pos="6528">
          <p15:clr>
            <a:srgbClr val="F26B43"/>
          </p15:clr>
        </p15:guide>
        <p15:guide id="37" pos="6744">
          <p15:clr>
            <a:srgbClr val="F26B43"/>
          </p15:clr>
        </p15:guide>
        <p15:guide id="42" orient="horz" pos="39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www.breachsense.com/blog/capital-one-data-breach-case-study/" TargetMode="External"/><Relationship Id="rId2" Type="http://schemas.openxmlformats.org/officeDocument/2006/relationships/hyperlink" Target="https://doi.org/10.1109/srds69199.2025.00022.%20Accessed%204%20Mar.%202026" TargetMode="External"/><Relationship Id="rId1" Type="http://schemas.openxmlformats.org/officeDocument/2006/relationships/slideLayout" Target="../slideLayouts/slideLayout2.xml"/><Relationship Id="rId5" Type="http://schemas.openxmlformats.org/officeDocument/2006/relationships/hyperlink" Target="https://doi.org/10.1109/snams67467.2025.11391049.%20Accessed%204%20Mar.%202026" TargetMode="External"/><Relationship Id="rId4" Type="http://schemas.openxmlformats.org/officeDocument/2006/relationships/hyperlink" Target="https://doi.org/10.1109/icoict58202.2023.1026256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C42F1-7366-58BB-7422-1BE087568D8D}"/>
              </a:ext>
            </a:extLst>
          </p:cNvPr>
          <p:cNvSpPr>
            <a:spLocks noGrp="1"/>
          </p:cNvSpPr>
          <p:nvPr>
            <p:ph type="ctrTitle"/>
          </p:nvPr>
        </p:nvSpPr>
        <p:spPr>
          <a:xfrm>
            <a:off x="1184779" y="2846646"/>
            <a:ext cx="4800600" cy="2762187"/>
          </a:xfrm>
        </p:spPr>
        <p:txBody>
          <a:bodyPr>
            <a:noAutofit/>
          </a:bodyPr>
          <a:lstStyle/>
          <a:p>
            <a:r>
              <a:rPr lang="en-IN" sz="4400" dirty="0"/>
              <a:t>AI-Driven SIEM Workflow Automation and Zero-Trust Endpoint Protection for Securing Cloud Supply Chains</a:t>
            </a:r>
            <a:br>
              <a:rPr lang="en-IN" sz="4400" dirty="0"/>
            </a:br>
            <a:endParaRPr lang="en-IN" sz="4400" dirty="0"/>
          </a:p>
        </p:txBody>
      </p:sp>
      <p:sp>
        <p:nvSpPr>
          <p:cNvPr id="3" name="Subtitle 2">
            <a:extLst>
              <a:ext uri="{FF2B5EF4-FFF2-40B4-BE49-F238E27FC236}">
                <a16:creationId xmlns:a16="http://schemas.microsoft.com/office/drawing/2014/main" id="{EC09F730-9846-3B54-861E-EDB79DF4395B}"/>
              </a:ext>
            </a:extLst>
          </p:cNvPr>
          <p:cNvSpPr>
            <a:spLocks noGrp="1"/>
          </p:cNvSpPr>
          <p:nvPr>
            <p:ph type="subTitle" idx="1"/>
          </p:nvPr>
        </p:nvSpPr>
        <p:spPr>
          <a:xfrm>
            <a:off x="6518780" y="3282261"/>
            <a:ext cx="3830874" cy="1496616"/>
          </a:xfrm>
        </p:spPr>
        <p:txBody>
          <a:bodyPr>
            <a:noAutofit/>
          </a:bodyPr>
          <a:lstStyle/>
          <a:p>
            <a:r>
              <a:rPr lang="en-US" sz="2000" dirty="0">
                <a:latin typeface="Aptos" panose="020B0004020202020204" pitchFamily="34" charset="0"/>
              </a:rPr>
              <a:t>By, Muhammed Afnaan Abdul Rahman </a:t>
            </a:r>
          </a:p>
          <a:p>
            <a:r>
              <a:rPr lang="en-US" sz="2000" dirty="0">
                <a:latin typeface="Aptos" panose="020B0004020202020204" pitchFamily="34" charset="0"/>
              </a:rPr>
              <a:t>001466352</a:t>
            </a:r>
            <a:endParaRPr lang="en-IN" sz="2000" dirty="0">
              <a:latin typeface="Aptos" panose="020B0004020202020204" pitchFamily="34" charset="0"/>
            </a:endParaRPr>
          </a:p>
          <a:p>
            <a:r>
              <a:rPr lang="en-IN" sz="2000" dirty="0">
                <a:latin typeface="Aptos" panose="020B0004020202020204" pitchFamily="34" charset="0"/>
              </a:rPr>
              <a:t>COMP-1252-M03-2025-2026 </a:t>
            </a:r>
            <a:r>
              <a:rPr lang="en-IN" sz="2000" dirty="0" err="1">
                <a:latin typeface="Aptos" panose="020B0004020202020204" pitchFamily="34" charset="0"/>
              </a:rPr>
              <a:t>Msc</a:t>
            </a:r>
            <a:r>
              <a:rPr lang="en-IN" sz="2000" dirty="0">
                <a:latin typeface="Aptos" panose="020B0004020202020204" pitchFamily="34" charset="0"/>
              </a:rPr>
              <a:t> Project</a:t>
            </a:r>
            <a:endParaRPr lang="en-US" sz="2000" dirty="0">
              <a:latin typeface="Aptos" panose="020B0004020202020204" pitchFamily="34" charset="0"/>
            </a:endParaRPr>
          </a:p>
        </p:txBody>
      </p:sp>
    </p:spTree>
    <p:extLst>
      <p:ext uri="{BB962C8B-B14F-4D97-AF65-F5344CB8AC3E}">
        <p14:creationId xmlns:p14="http://schemas.microsoft.com/office/powerpoint/2010/main" val="973872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ECD89-97A0-9A4A-F731-51189417D777}"/>
              </a:ext>
            </a:extLst>
          </p:cNvPr>
          <p:cNvSpPr>
            <a:spLocks noGrp="1"/>
          </p:cNvSpPr>
          <p:nvPr>
            <p:ph type="title"/>
          </p:nvPr>
        </p:nvSpPr>
        <p:spPr/>
        <p:txBody>
          <a:bodyPr/>
          <a:lstStyle/>
          <a:p>
            <a:r>
              <a:rPr lang="en-US" dirty="0"/>
              <a:t>Table of content</a:t>
            </a:r>
            <a:endParaRPr lang="en-IN" dirty="0"/>
          </a:p>
        </p:txBody>
      </p:sp>
      <p:sp>
        <p:nvSpPr>
          <p:cNvPr id="3" name="Content Placeholder 2">
            <a:extLst>
              <a:ext uri="{FF2B5EF4-FFF2-40B4-BE49-F238E27FC236}">
                <a16:creationId xmlns:a16="http://schemas.microsoft.com/office/drawing/2014/main" id="{2162B4C9-BF48-6767-2DEB-2849742C3ED6}"/>
              </a:ext>
            </a:extLst>
          </p:cNvPr>
          <p:cNvSpPr>
            <a:spLocks noGrp="1"/>
          </p:cNvSpPr>
          <p:nvPr>
            <p:ph idx="1"/>
          </p:nvPr>
        </p:nvSpPr>
        <p:spPr/>
        <p:txBody>
          <a:bodyPr>
            <a:normAutofit/>
          </a:bodyPr>
          <a:lstStyle/>
          <a:p>
            <a:r>
              <a:rPr lang="en-US" sz="2000" dirty="0"/>
              <a:t>Introduction</a:t>
            </a:r>
          </a:p>
          <a:p>
            <a:r>
              <a:rPr lang="en-US" sz="2000" dirty="0"/>
              <a:t>Literature review</a:t>
            </a:r>
          </a:p>
          <a:p>
            <a:r>
              <a:rPr lang="en-US" sz="2000" dirty="0"/>
              <a:t>Proposed Architecture Design</a:t>
            </a:r>
          </a:p>
          <a:p>
            <a:r>
              <a:rPr lang="en-US" sz="2000" dirty="0"/>
              <a:t>Practical Implementation</a:t>
            </a:r>
          </a:p>
          <a:p>
            <a:r>
              <a:rPr lang="en-US" sz="2000" dirty="0"/>
              <a:t>Evaluation</a:t>
            </a:r>
          </a:p>
          <a:p>
            <a:r>
              <a:rPr lang="en-US" sz="2000" dirty="0"/>
              <a:t>Conclusion</a:t>
            </a:r>
          </a:p>
          <a:p>
            <a:r>
              <a:rPr lang="en-US" sz="2000" dirty="0"/>
              <a:t>Reference</a:t>
            </a:r>
          </a:p>
        </p:txBody>
      </p:sp>
    </p:spTree>
    <p:extLst>
      <p:ext uri="{BB962C8B-B14F-4D97-AF65-F5344CB8AC3E}">
        <p14:creationId xmlns:p14="http://schemas.microsoft.com/office/powerpoint/2010/main" val="823160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499"/>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499"/>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499"/>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499"/>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499"/>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499"/>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8F4F1-516B-920B-B4DF-E66686F19315}"/>
              </a:ext>
            </a:extLst>
          </p:cNvPr>
          <p:cNvSpPr>
            <a:spLocks noGrp="1"/>
          </p:cNvSpPr>
          <p:nvPr>
            <p:ph type="title"/>
          </p:nvPr>
        </p:nvSpPr>
        <p:spPr>
          <a:xfrm>
            <a:off x="224589" y="64565"/>
            <a:ext cx="9942409" cy="876193"/>
          </a:xfrm>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C9B7F2E9-AF73-64D7-6DFC-AF9FC73B16D6}"/>
              </a:ext>
            </a:extLst>
          </p:cNvPr>
          <p:cNvSpPr>
            <a:spLocks noGrp="1"/>
          </p:cNvSpPr>
          <p:nvPr>
            <p:ph idx="1"/>
          </p:nvPr>
        </p:nvSpPr>
        <p:spPr>
          <a:xfrm>
            <a:off x="136358" y="585538"/>
            <a:ext cx="11831053" cy="6207898"/>
          </a:xfrm>
        </p:spPr>
        <p:txBody>
          <a:bodyPr>
            <a:normAutofit/>
          </a:bodyPr>
          <a:lstStyle/>
          <a:p>
            <a:pPr marL="0" indent="0">
              <a:buNone/>
            </a:pPr>
            <a:r>
              <a:rPr lang="en-US" sz="2000" dirty="0"/>
              <a:t>Overview</a:t>
            </a:r>
          </a:p>
          <a:p>
            <a:r>
              <a:rPr lang="en-IN" sz="2000" dirty="0"/>
              <a:t>This project proposes an integrated cybersecurity architectural design that utilises tools such as Elastic SIEM, Tines AI, and </a:t>
            </a:r>
            <a:r>
              <a:rPr lang="en-IN" sz="2000" dirty="0" err="1"/>
              <a:t>ThreatLocker</a:t>
            </a:r>
            <a:r>
              <a:rPr lang="en-IN" sz="2000" dirty="0"/>
              <a:t> to improve the incident lifecycle and strengthen security in cloud-based environments. It seeks to investigate how AI-driven workflow automation can make the SOC workflow intelligent and automated. While zero-trust endpoint controls can establish a robust defensive architecture, they are essential for securing cloud infrastructures against emerging threats.</a:t>
            </a:r>
          </a:p>
          <a:p>
            <a:r>
              <a:rPr lang="en-IN" sz="2000" dirty="0"/>
              <a:t>Modern Security Operations Centres (SOCs) increasingly depend on cloud-enabled infrastructures and a network of dispersed endpoints, creating a complex array of security events that challenge the effectiveness of traditional SOC operations.</a:t>
            </a:r>
          </a:p>
          <a:p>
            <a:r>
              <a:rPr lang="en-IN" sz="2000" dirty="0"/>
              <a:t>Conventional SOC workflows face several significant challenges, including:</a:t>
            </a:r>
          </a:p>
          <a:p>
            <a:pPr lvl="1"/>
            <a:r>
              <a:rPr lang="en-IN" sz="2000" dirty="0"/>
              <a:t>An overwhelming number of security alerts</a:t>
            </a:r>
          </a:p>
          <a:p>
            <a:pPr lvl="1"/>
            <a:r>
              <a:rPr lang="en-IN" sz="2000" dirty="0"/>
              <a:t> Alertness and fatigue among analysts </a:t>
            </a:r>
          </a:p>
          <a:p>
            <a:pPr lvl="1"/>
            <a:r>
              <a:rPr lang="en-IN" sz="2000" dirty="0"/>
              <a:t> Analyst burnout </a:t>
            </a:r>
          </a:p>
          <a:p>
            <a:pPr lvl="1"/>
            <a:r>
              <a:rPr lang="en-IN" sz="2000" dirty="0"/>
              <a:t> A reliance on manual investigation processes</a:t>
            </a:r>
          </a:p>
        </p:txBody>
      </p:sp>
    </p:spTree>
    <p:extLst>
      <p:ext uri="{BB962C8B-B14F-4D97-AF65-F5344CB8AC3E}">
        <p14:creationId xmlns:p14="http://schemas.microsoft.com/office/powerpoint/2010/main" val="2192767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2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20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20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500"/>
                                        <p:tgtEl>
                                          <p:spTgt spid="3">
                                            <p:txEl>
                                              <p:pRg st="1" end="1"/>
                                            </p:txEl>
                                          </p:spTgt>
                                        </p:tgtEl>
                                      </p:cBhvr>
                                    </p:animEffect>
                                  </p:childTnLst>
                                </p:cTn>
                              </p:par>
                              <p:par>
                                <p:cTn id="14" presetID="10" presetClass="entr" presetSubtype="0" fill="hold" nodeType="withEffect">
                                  <p:stCondLst>
                                    <p:cond delay="20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20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nodeType="withEffect">
                                  <p:stCondLst>
                                    <p:cond delay="20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par>
                                <p:cTn id="23" presetID="10" presetClass="entr" presetSubtype="0" fill="hold" nodeType="withEffect">
                                  <p:stCondLst>
                                    <p:cond delay="20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par>
                                <p:cTn id="26" presetID="10" presetClass="entr" presetSubtype="0" fill="hold" nodeType="withEffect">
                                  <p:stCondLst>
                                    <p:cond delay="20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500"/>
                                        <p:tgtEl>
                                          <p:spTgt spid="3">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0" presetClass="emph" presetSubtype="0" fill="hold" grpId="0" nodeType="clickEffect">
                                  <p:stCondLst>
                                    <p:cond delay="200"/>
                                  </p:stCondLst>
                                  <p:childTnLst>
                                    <p:animClr clrSpc="hsl" dir="cw">
                                      <p:cBhvr override="childStyle">
                                        <p:cTn id="32" dur="500" fill="hold"/>
                                        <p:tgtEl>
                                          <p:spTgt spid="2"/>
                                        </p:tgtEl>
                                        <p:attrNameLst>
                                          <p:attrName>style.color</p:attrName>
                                        </p:attrNameLst>
                                      </p:cBhvr>
                                      <p:by>
                                        <p:hsl h="0" s="12549" l="25098"/>
                                      </p:by>
                                    </p:animClr>
                                    <p:animClr clrSpc="hsl" dir="cw">
                                      <p:cBhvr>
                                        <p:cTn id="33" dur="500" fill="hold"/>
                                        <p:tgtEl>
                                          <p:spTgt spid="2"/>
                                        </p:tgtEl>
                                        <p:attrNameLst>
                                          <p:attrName>fillcolor</p:attrName>
                                        </p:attrNameLst>
                                      </p:cBhvr>
                                      <p:by>
                                        <p:hsl h="0" s="12549" l="25098"/>
                                      </p:by>
                                    </p:animClr>
                                    <p:animClr clrSpc="hsl" dir="cw">
                                      <p:cBhvr>
                                        <p:cTn id="34" dur="500" fill="hold"/>
                                        <p:tgtEl>
                                          <p:spTgt spid="2"/>
                                        </p:tgtEl>
                                        <p:attrNameLst>
                                          <p:attrName>stroke.color</p:attrName>
                                        </p:attrNameLst>
                                      </p:cBhvr>
                                      <p:by>
                                        <p:hsl h="0" s="12549" l="25098"/>
                                      </p:by>
                                    </p:animClr>
                                    <p:set>
                                      <p:cBhvr>
                                        <p:cTn id="35" dur="500" fill="hold"/>
                                        <p:tgtEl>
                                          <p:spTgt spid="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0889A-63E5-46EF-E395-4A8C211D7487}"/>
              </a:ext>
            </a:extLst>
          </p:cNvPr>
          <p:cNvSpPr>
            <a:spLocks noGrp="1"/>
          </p:cNvSpPr>
          <p:nvPr>
            <p:ph type="title"/>
          </p:nvPr>
        </p:nvSpPr>
        <p:spPr>
          <a:xfrm>
            <a:off x="112295" y="112296"/>
            <a:ext cx="10250905" cy="393030"/>
          </a:xfrm>
        </p:spPr>
        <p:txBody>
          <a:bodyPr>
            <a:normAutofit fontScale="90000"/>
          </a:bodyPr>
          <a:lstStyle/>
          <a:p>
            <a:r>
              <a:rPr lang="en-US" dirty="0"/>
              <a:t>Background Study</a:t>
            </a:r>
            <a:endParaRPr lang="en-IN" dirty="0"/>
          </a:p>
        </p:txBody>
      </p:sp>
      <p:sp>
        <p:nvSpPr>
          <p:cNvPr id="3" name="Content Placeholder 2">
            <a:extLst>
              <a:ext uri="{FF2B5EF4-FFF2-40B4-BE49-F238E27FC236}">
                <a16:creationId xmlns:a16="http://schemas.microsoft.com/office/drawing/2014/main" id="{8E9EA8AE-B428-4072-12D6-50DD101B0414}"/>
              </a:ext>
            </a:extLst>
          </p:cNvPr>
          <p:cNvSpPr>
            <a:spLocks noGrp="1"/>
          </p:cNvSpPr>
          <p:nvPr>
            <p:ph idx="1"/>
          </p:nvPr>
        </p:nvSpPr>
        <p:spPr>
          <a:xfrm>
            <a:off x="172743" y="625642"/>
            <a:ext cx="11914983" cy="6232358"/>
          </a:xfrm>
        </p:spPr>
        <p:txBody>
          <a:bodyPr>
            <a:normAutofit/>
          </a:bodyPr>
          <a:lstStyle/>
          <a:p>
            <a:r>
              <a:rPr lang="en-IN" sz="2000" dirty="0"/>
              <a:t>This background study helps us understand how cloud infrastructures have evolved from the emerging threat landscape. This evolution has led to security challenges in cloud environments. These challenges associated with cloud platforms are caused by traditional SOC workflows and their increased volume of alerts. It also reviews the expansion of AI and zero trust endpoint security solutions. </a:t>
            </a:r>
          </a:p>
          <a:p>
            <a:endParaRPr lang="en-IN" sz="2000" dirty="0"/>
          </a:p>
          <a:p>
            <a:r>
              <a:rPr lang="en-IN" sz="2000" dirty="0"/>
              <a:t>These areas provide the foundation for understanding the limitations of traditional security operations and the need for a more adaptive security approach that will serve as a resilient architecture in securing SOC workflows from the emerging threat landscape.</a:t>
            </a:r>
          </a:p>
          <a:p>
            <a:endParaRPr lang="en-IN" sz="2000" dirty="0"/>
          </a:p>
          <a:p>
            <a:r>
              <a:rPr lang="en-IN" sz="2000" dirty="0"/>
              <a:t>The background study evolves in 3 themes that includes </a:t>
            </a:r>
            <a:r>
              <a:rPr lang="en-US" sz="2000" dirty="0"/>
              <a:t>Evolution of cloud infrastructure </a:t>
            </a:r>
            <a:r>
              <a:rPr lang="en-IN" sz="2000" dirty="0"/>
              <a:t>, AI workflow  Automation and Zero Trust Architecture</a:t>
            </a:r>
          </a:p>
          <a:p>
            <a:endParaRPr lang="en-IN" sz="2000" dirty="0"/>
          </a:p>
        </p:txBody>
      </p:sp>
    </p:spTree>
    <p:extLst>
      <p:ext uri="{BB962C8B-B14F-4D97-AF65-F5344CB8AC3E}">
        <p14:creationId xmlns:p14="http://schemas.microsoft.com/office/powerpoint/2010/main" val="1265364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2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20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20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p:cTn id="18" dur="500" fill="hold"/>
                                        <p:tgtEl>
                                          <p:spTgt spid="2"/>
                                        </p:tgtEl>
                                        <p:attrNameLst>
                                          <p:attrName>ppt_w</p:attrName>
                                        </p:attrNameLst>
                                      </p:cBhvr>
                                      <p:tavLst>
                                        <p:tav tm="0">
                                          <p:val>
                                            <p:fltVal val="0"/>
                                          </p:val>
                                        </p:tav>
                                        <p:tav tm="100000">
                                          <p:val>
                                            <p:strVal val="#ppt_w"/>
                                          </p:val>
                                        </p:tav>
                                      </p:tavLst>
                                    </p:anim>
                                    <p:anim calcmode="lin" valueType="num">
                                      <p:cBhvr>
                                        <p:cTn id="19" dur="500" fill="hold"/>
                                        <p:tgtEl>
                                          <p:spTgt spid="2"/>
                                        </p:tgtEl>
                                        <p:attrNameLst>
                                          <p:attrName>ppt_h</p:attrName>
                                        </p:attrNameLst>
                                      </p:cBhvr>
                                      <p:tavLst>
                                        <p:tav tm="0">
                                          <p:val>
                                            <p:fltVal val="0"/>
                                          </p:val>
                                        </p:tav>
                                        <p:tav tm="100000">
                                          <p:val>
                                            <p:strVal val="#ppt_h"/>
                                          </p:val>
                                        </p:tav>
                                      </p:tavLst>
                                    </p:anim>
                                    <p:animEffect transition="in" filter="fade">
                                      <p:cBhvr>
                                        <p:cTn id="2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D215BF0-B7CF-5C6A-B44C-4E8410E2713A}"/>
              </a:ext>
            </a:extLst>
          </p:cNvPr>
          <p:cNvSpPr>
            <a:spLocks noGrp="1"/>
          </p:cNvSpPr>
          <p:nvPr>
            <p:ph type="title"/>
          </p:nvPr>
        </p:nvSpPr>
        <p:spPr>
          <a:xfrm flipV="1">
            <a:off x="2105527" y="-1549817"/>
            <a:ext cx="10515600" cy="45719"/>
          </a:xfrm>
        </p:spPr>
        <p:txBody>
          <a:bodyPr>
            <a:normAutofit fontScale="90000"/>
          </a:bodyPr>
          <a:lstStyle/>
          <a:p>
            <a:endParaRPr lang="en-IN" dirty="0"/>
          </a:p>
        </p:txBody>
      </p:sp>
      <p:sp>
        <p:nvSpPr>
          <p:cNvPr id="6" name="Content Placeholder 5">
            <a:extLst>
              <a:ext uri="{FF2B5EF4-FFF2-40B4-BE49-F238E27FC236}">
                <a16:creationId xmlns:a16="http://schemas.microsoft.com/office/drawing/2014/main" id="{113F71CD-6520-7CF2-8E12-43F61F471920}"/>
              </a:ext>
            </a:extLst>
          </p:cNvPr>
          <p:cNvSpPr>
            <a:spLocks noGrp="1"/>
          </p:cNvSpPr>
          <p:nvPr>
            <p:ph idx="1"/>
          </p:nvPr>
        </p:nvSpPr>
        <p:spPr>
          <a:xfrm>
            <a:off x="120316" y="104273"/>
            <a:ext cx="12071683" cy="6708007"/>
          </a:xfrm>
        </p:spPr>
        <p:txBody>
          <a:bodyPr/>
          <a:lstStyle/>
          <a:p>
            <a:pPr fontAlgn="t"/>
            <a:r>
              <a:rPr lang="en-US" sz="1700" b="1" dirty="0"/>
              <a:t>Evolution of cloud infrastructure </a:t>
            </a:r>
            <a:endParaRPr lang="en-IN" sz="1700" dirty="0"/>
          </a:p>
          <a:p>
            <a:pPr marL="285750" indent="-285750">
              <a:buFont typeface="Arial" panose="020B0604020202020204" pitchFamily="34" charset="0"/>
              <a:buChar char="•"/>
            </a:pPr>
            <a:r>
              <a:rPr lang="en-IN" sz="1700" dirty="0"/>
              <a:t>Cloud environments have significantly transformed from being optional infrastructure solutions into a fundamental component of the digital world due to its scalability flexibility and reliability provided by platforms such as Aws and Azure</a:t>
            </a:r>
          </a:p>
          <a:p>
            <a:pPr marL="285750" indent="-285750">
              <a:buFont typeface="Arial" panose="020B0604020202020204" pitchFamily="34" charset="0"/>
              <a:buChar char="•"/>
            </a:pPr>
            <a:r>
              <a:rPr lang="en-IN" sz="1700" dirty="0"/>
              <a:t>Despite how scalable the AWS cloud platform is when it comes to security considerations, it remains exposed to security risks that include misconfigured cloud resources, S3 buckets, insecure API configurations, and identity and access management weaknesses, increasing the attack surface of the cloud infrastructures.</a:t>
            </a:r>
          </a:p>
          <a:p>
            <a:endParaRPr lang="en-IN" sz="1700" dirty="0"/>
          </a:p>
          <a:p>
            <a:r>
              <a:rPr lang="en-US" sz="1700" b="1" dirty="0"/>
              <a:t>AI workflow Automation</a:t>
            </a:r>
          </a:p>
          <a:p>
            <a:pPr marL="285750" indent="-285750">
              <a:buFont typeface="Arial" panose="020B0604020202020204" pitchFamily="34" charset="0"/>
              <a:buChar char="•"/>
            </a:pPr>
            <a:r>
              <a:rPr lang="en-IN" sz="1700" dirty="0"/>
              <a:t>AI has been considered dominant in the industry in overcoming the limitations of traditional SIEM operations by reducing SOC challenges through its machine learning and deep learning models. </a:t>
            </a:r>
          </a:p>
          <a:p>
            <a:pPr marL="285750" indent="-285750">
              <a:buFont typeface="Arial" panose="020B0604020202020204" pitchFamily="34" charset="0"/>
              <a:buChar char="•"/>
            </a:pPr>
            <a:r>
              <a:rPr lang="en-IN" sz="1700" dirty="0"/>
              <a:t>The rapid expansion of AI workloads has helped in intelligent decision-making and faster threat detection.</a:t>
            </a:r>
          </a:p>
          <a:p>
            <a:endParaRPr lang="en-IN" sz="1700" b="1" dirty="0"/>
          </a:p>
          <a:p>
            <a:r>
              <a:rPr lang="en-US" sz="1700" b="1" dirty="0"/>
              <a:t>Zero-Trust Architecture</a:t>
            </a:r>
            <a:endParaRPr lang="en-IN" sz="1700" b="1" dirty="0"/>
          </a:p>
          <a:p>
            <a:pPr marL="285750" indent="-285750">
              <a:buFont typeface="Arial" panose="020B0604020202020204" pitchFamily="34" charset="0"/>
              <a:buChar char="•"/>
            </a:pPr>
            <a:r>
              <a:rPr lang="en-IN" sz="1700" dirty="0"/>
              <a:t>Zero trust architecture is based on a theoretical security philosophy of never trust, always verify, This principle asserts that no user device or endpoint can be automatically trusted, regardless of its origin.</a:t>
            </a:r>
          </a:p>
          <a:p>
            <a:pPr marL="285750" indent="-285750">
              <a:buFont typeface="Arial" panose="020B0604020202020204" pitchFamily="34" charset="0"/>
              <a:buChar char="•"/>
            </a:pPr>
            <a:r>
              <a:rPr lang="en-IN" sz="1700" dirty="0"/>
              <a:t>.Zero trust moves away from traditional perimeter-based </a:t>
            </a:r>
            <a:r>
              <a:rPr lang="en-IN" sz="1700" dirty="0" err="1"/>
              <a:t>defense</a:t>
            </a:r>
            <a:r>
              <a:rPr lang="en-IN" sz="1700" dirty="0"/>
              <a:t>  and emphasizes an identity-centric approach to security enforcement. It evaluates each request through continuous verification, contextual validation, and dynamic risk assessment.</a:t>
            </a:r>
          </a:p>
          <a:p>
            <a:endParaRPr lang="en-IN" b="1" dirty="0"/>
          </a:p>
          <a:p>
            <a:endParaRPr lang="en-IN" dirty="0"/>
          </a:p>
        </p:txBody>
      </p:sp>
    </p:spTree>
    <p:extLst>
      <p:ext uri="{BB962C8B-B14F-4D97-AF65-F5344CB8AC3E}">
        <p14:creationId xmlns:p14="http://schemas.microsoft.com/office/powerpoint/2010/main" val="1625566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036FF-6953-F72A-7855-BEC18555C713}"/>
              </a:ext>
            </a:extLst>
          </p:cNvPr>
          <p:cNvSpPr>
            <a:spLocks noGrp="1"/>
          </p:cNvSpPr>
          <p:nvPr>
            <p:ph type="title"/>
          </p:nvPr>
        </p:nvSpPr>
        <p:spPr>
          <a:xfrm>
            <a:off x="91277" y="100256"/>
            <a:ext cx="9942409" cy="876193"/>
          </a:xfrm>
        </p:spPr>
        <p:txBody>
          <a:bodyPr/>
          <a:lstStyle/>
          <a:p>
            <a:r>
              <a:rPr lang="en-US" dirty="0"/>
              <a:t>Literature Review</a:t>
            </a:r>
            <a:endParaRPr lang="en-IN" dirty="0"/>
          </a:p>
        </p:txBody>
      </p:sp>
      <p:sp>
        <p:nvSpPr>
          <p:cNvPr id="3" name="Content Placeholder 2">
            <a:extLst>
              <a:ext uri="{FF2B5EF4-FFF2-40B4-BE49-F238E27FC236}">
                <a16:creationId xmlns:a16="http://schemas.microsoft.com/office/drawing/2014/main" id="{A344E289-670F-E2A2-5BAE-DE1EF9E1899C}"/>
              </a:ext>
            </a:extLst>
          </p:cNvPr>
          <p:cNvSpPr>
            <a:spLocks noGrp="1"/>
          </p:cNvSpPr>
          <p:nvPr>
            <p:ph idx="1"/>
          </p:nvPr>
        </p:nvSpPr>
        <p:spPr>
          <a:xfrm>
            <a:off x="174044" y="659026"/>
            <a:ext cx="11926679" cy="6098717"/>
          </a:xfrm>
        </p:spPr>
        <p:txBody>
          <a:bodyPr>
            <a:normAutofit/>
          </a:bodyPr>
          <a:lstStyle/>
          <a:p>
            <a:r>
              <a:rPr lang="en-IN" sz="2000" dirty="0"/>
              <a:t>The literature review </a:t>
            </a:r>
            <a:r>
              <a:rPr lang="en-IN" sz="2000" dirty="0" err="1"/>
              <a:t>analyzes</a:t>
            </a:r>
            <a:r>
              <a:rPr lang="en-IN" sz="2000" dirty="0"/>
              <a:t> existing research related to zero trust architecture, AI workflow automation, security operations </a:t>
            </a:r>
            <a:r>
              <a:rPr lang="en-IN" sz="2000" dirty="0" err="1"/>
              <a:t>centers</a:t>
            </a:r>
            <a:r>
              <a:rPr lang="en-IN" sz="2000" dirty="0"/>
              <a:t>, and cloud security vulnerabilities, all within the framework of the project titled "AI-Driven SIEM Workflow Automation and Zero-Trust Endpoint Protection for Securing Cloud Supply Chains.“</a:t>
            </a:r>
          </a:p>
          <a:p>
            <a:r>
              <a:rPr lang="en-IN" sz="2000" dirty="0"/>
              <a:t>The primary purpose of conducting a literature review is to evaluate the study approaches employed by various authors in this field, identify limitations in their architectures, and pinpoint gaps that the proposed architecture aims to address.</a:t>
            </a:r>
          </a:p>
          <a:p>
            <a:r>
              <a:rPr lang="en-IN" sz="2000" dirty="0"/>
              <a:t>The literature review adopts a thematic decomposition approach, examining the problem across five key domains: mainly incident response and SOC automation, zero-trust architecture, AI workflow automation. </a:t>
            </a:r>
          </a:p>
          <a:p>
            <a:r>
              <a:rPr lang="en-IN" sz="2000" dirty="0"/>
              <a:t>This structural approach reflects a layered structure of cloud supply chain security, where each security component contributes to improving the overall cyber resilience of clouds and environments. </a:t>
            </a:r>
          </a:p>
          <a:p>
            <a:pPr marL="0" indent="0">
              <a:buNone/>
            </a:pPr>
            <a:br>
              <a:rPr lang="en-IN" sz="2000" dirty="0"/>
            </a:br>
            <a:endParaRPr lang="en-IN" sz="2000" dirty="0"/>
          </a:p>
        </p:txBody>
      </p:sp>
    </p:spTree>
    <p:extLst>
      <p:ext uri="{BB962C8B-B14F-4D97-AF65-F5344CB8AC3E}">
        <p14:creationId xmlns:p14="http://schemas.microsoft.com/office/powerpoint/2010/main" val="3400642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wipe(down)">
                                      <p:cBhvr>
                                        <p:cTn id="14" dur="500"/>
                                        <p:tgtEl>
                                          <p:spTgt spid="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wipe(down)">
                                      <p:cBhvr>
                                        <p:cTn id="19" dur="500"/>
                                        <p:tgtEl>
                                          <p:spTgt spid="3">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wipe(down)">
                                      <p:cBhvr>
                                        <p:cTn id="24" dur="500"/>
                                        <p:tgtEl>
                                          <p:spTgt spid="3">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wipe(down)">
                                      <p:cBhvr>
                                        <p:cTn id="29"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D8635E-5D13-3273-9930-CD79B9902B55}"/>
              </a:ext>
            </a:extLst>
          </p:cNvPr>
          <p:cNvSpPr>
            <a:spLocks noGrp="1"/>
          </p:cNvSpPr>
          <p:nvPr>
            <p:ph idx="1"/>
          </p:nvPr>
        </p:nvSpPr>
        <p:spPr>
          <a:xfrm>
            <a:off x="0" y="0"/>
            <a:ext cx="12039600" cy="6669503"/>
          </a:xfrm>
        </p:spPr>
        <p:txBody>
          <a:bodyPr>
            <a:noAutofit/>
          </a:bodyPr>
          <a:lstStyle/>
          <a:p>
            <a:r>
              <a:rPr lang="en-US" sz="1500" b="1" dirty="0"/>
              <a:t>Incident Response  and SOC automation</a:t>
            </a:r>
            <a:endParaRPr lang="en-IN" sz="1500" b="1" dirty="0"/>
          </a:p>
          <a:p>
            <a:pPr marL="285750" indent="-285750">
              <a:buFont typeface="Arial" panose="020B0604020202020204" pitchFamily="34" charset="0"/>
              <a:buChar char="•"/>
            </a:pPr>
            <a:r>
              <a:rPr lang="en-IN" sz="1500" dirty="0"/>
              <a:t>As We know ,Traditional SOC environments rely heavily on SIEM platforms to collect and correlate telemetry data.</a:t>
            </a:r>
          </a:p>
          <a:p>
            <a:pPr marL="285750" indent="-285750">
              <a:buFont typeface="Arial" panose="020B0604020202020204" pitchFamily="34" charset="0"/>
              <a:buChar char="•"/>
            </a:pPr>
            <a:r>
              <a:rPr lang="en-IN" sz="1500" dirty="0"/>
              <a:t> However, these platforms monitor alerts based on detection rules set by the SOC team, requiring manual investigation for each alert, which causes challenges such as leading to manual triage and delayed incident response </a:t>
            </a:r>
          </a:p>
          <a:p>
            <a:r>
              <a:rPr lang="en-IN" sz="1500" dirty="0"/>
              <a:t>Existing research has explored the integration of artificial intelligence and machine learning techniques into security workflows to overcome the limitations of traditional SIEM-based detection. (</a:t>
            </a:r>
            <a:r>
              <a:rPr lang="en-IN" sz="1500" i="1" dirty="0"/>
              <a:t>Farzaan et al.2026)</a:t>
            </a:r>
            <a:r>
              <a:rPr lang="en-IN" sz="1500" dirty="0"/>
              <a:t> </a:t>
            </a:r>
          </a:p>
          <a:p>
            <a:pPr marL="514350" lvl="1" indent="-285750">
              <a:buFont typeface="Arial" panose="020B0604020202020204" pitchFamily="34" charset="0"/>
              <a:buChar char="•"/>
            </a:pPr>
            <a:r>
              <a:rPr lang="en-IN" sz="1500" dirty="0"/>
              <a:t>Random Forest : Algorithms combining decision trees to identify malicious network activity</a:t>
            </a:r>
          </a:p>
          <a:p>
            <a:pPr marL="514350" lvl="1" indent="-285750">
              <a:buFont typeface="Arial" panose="020B0604020202020204" pitchFamily="34" charset="0"/>
              <a:buChar char="•"/>
            </a:pPr>
            <a:r>
              <a:rPr lang="en-IN" sz="1500" dirty="0"/>
              <a:t>Isolation Forest: unusual Behaviour  </a:t>
            </a:r>
          </a:p>
          <a:p>
            <a:pPr marL="514350" lvl="1" indent="-285750">
              <a:buFont typeface="Arial" panose="020B0604020202020204" pitchFamily="34" charset="0"/>
              <a:buChar char="•"/>
            </a:pPr>
            <a:r>
              <a:rPr lang="en-IN" sz="1500" dirty="0"/>
              <a:t>the Hybrid Random Forest-LSTM model  neural network designed to understand patterns across sequence </a:t>
            </a:r>
          </a:p>
          <a:p>
            <a:pPr marL="514350" lvl="1" indent="-285750">
              <a:buFont typeface="Arial" panose="020B0604020202020204" pitchFamily="34" charset="0"/>
              <a:buChar char="•"/>
            </a:pPr>
            <a:r>
              <a:rPr lang="en-IN" sz="1500" dirty="0"/>
              <a:t>Drawback(Benchmark Datasets refers hence  NO complex real-world enterprises )</a:t>
            </a:r>
          </a:p>
          <a:p>
            <a:pPr lvl="1"/>
            <a:endParaRPr lang="en-IN" sz="1500" dirty="0"/>
          </a:p>
          <a:p>
            <a:pPr marL="285750" indent="-285750">
              <a:buFont typeface="Arial" panose="020B0604020202020204" pitchFamily="34" charset="0"/>
              <a:buChar char="•"/>
            </a:pPr>
            <a:r>
              <a:rPr lang="en-IN" sz="1500" dirty="0"/>
              <a:t> AI-driven automated incident response. (Narayan)</a:t>
            </a:r>
          </a:p>
          <a:p>
            <a:pPr marL="514350" lvl="1" indent="-285750">
              <a:buFont typeface="Arial" panose="020B0604020202020204" pitchFamily="34" charset="0"/>
              <a:buChar char="•"/>
            </a:pPr>
            <a:r>
              <a:rPr lang="en-IN" sz="1500" dirty="0"/>
              <a:t>Designed an Ai –driven automated incident response framework to reduce manual investigation time on SIEM alerts to enhance the overall efficiency of security operations. </a:t>
            </a:r>
          </a:p>
          <a:p>
            <a:pPr marL="514350" lvl="1" indent="-285750">
              <a:buFont typeface="Arial" panose="020B0604020202020204" pitchFamily="34" charset="0"/>
              <a:buChar char="•"/>
            </a:pPr>
            <a:r>
              <a:rPr lang="en-IN" sz="1500" dirty="0"/>
              <a:t>Quantitative experimental methodology by comparing performance metrics before and after implementation in SOC workflows</a:t>
            </a:r>
          </a:p>
          <a:p>
            <a:pPr marL="514350" lvl="1" indent="-285750">
              <a:buFont typeface="Arial" panose="020B0604020202020204" pitchFamily="34" charset="0"/>
              <a:buChar char="•"/>
            </a:pPr>
            <a:r>
              <a:rPr lang="en-IN" sz="1500" dirty="0"/>
              <a:t>The researchers simulated controlled attack scenarios, including phishing, malware, DDoS, and ransomware, within a laboratory environment to evaluate the effectiveness of AI-driven incident response capabilities.(120secs)</a:t>
            </a:r>
          </a:p>
          <a:p>
            <a:pPr marL="514350" lvl="1" indent="-285750">
              <a:buFont typeface="Arial" panose="020B0604020202020204" pitchFamily="34" charset="0"/>
              <a:buChar char="•"/>
            </a:pPr>
            <a:r>
              <a:rPr lang="en-IN" sz="1500" dirty="0"/>
              <a:t>Result: response time from 45 minutes to 10 minutes</a:t>
            </a:r>
          </a:p>
          <a:p>
            <a:pPr marL="514350" lvl="1" indent="-285750">
              <a:buFont typeface="Arial" panose="020B0604020202020204" pitchFamily="34" charset="0"/>
              <a:buChar char="•"/>
            </a:pPr>
            <a:r>
              <a:rPr lang="en-IN" sz="1500" dirty="0"/>
              <a:t>Drawback(measuring improvements in detection and response performance rather than implementing a complete operational workflow )</a:t>
            </a:r>
          </a:p>
          <a:p>
            <a:pPr lvl="1"/>
            <a:endParaRPr lang="en-IN" sz="1500" dirty="0"/>
          </a:p>
        </p:txBody>
      </p:sp>
    </p:spTree>
    <p:extLst>
      <p:ext uri="{BB962C8B-B14F-4D97-AF65-F5344CB8AC3E}">
        <p14:creationId xmlns:p14="http://schemas.microsoft.com/office/powerpoint/2010/main" val="446897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3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3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30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30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grpId="0" nodeType="withEffect">
                                  <p:stCondLst>
                                    <p:cond delay="30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grpId="0" nodeType="withEffect">
                                  <p:stCondLst>
                                    <p:cond delay="30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par>
                                <p:cTn id="29" presetID="10" presetClass="entr" presetSubtype="0" fill="hold" grpId="0" nodeType="withEffect">
                                  <p:stCondLst>
                                    <p:cond delay="30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par>
                                <p:cTn id="32" presetID="10" presetClass="entr" presetSubtype="0" fill="hold" grpId="0" nodeType="withEffect">
                                  <p:stCondLst>
                                    <p:cond delay="30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300"/>
                                  </p:stCondLst>
                                  <p:childTnLst>
                                    <p:set>
                                      <p:cBhvr>
                                        <p:cTn id="38" dur="1" fill="hold">
                                          <p:stCondLst>
                                            <p:cond delay="0"/>
                                          </p:stCondLst>
                                        </p:cTn>
                                        <p:tgtEl>
                                          <p:spTgt spid="3">
                                            <p:txEl>
                                              <p:pRg st="9" end="9"/>
                                            </p:txEl>
                                          </p:spTgt>
                                        </p:tgtEl>
                                        <p:attrNameLst>
                                          <p:attrName>style.visibility</p:attrName>
                                        </p:attrNameLst>
                                      </p:cBhvr>
                                      <p:to>
                                        <p:strVal val="visible"/>
                                      </p:to>
                                    </p:set>
                                    <p:animEffect transition="in" filter="fade">
                                      <p:cBhvr>
                                        <p:cTn id="39" dur="500"/>
                                        <p:tgtEl>
                                          <p:spTgt spid="3">
                                            <p:txEl>
                                              <p:pRg st="9" end="9"/>
                                            </p:txEl>
                                          </p:spTgt>
                                        </p:tgtEl>
                                      </p:cBhvr>
                                    </p:animEffect>
                                  </p:childTnLst>
                                </p:cTn>
                              </p:par>
                              <p:par>
                                <p:cTn id="40" presetID="10" presetClass="entr" presetSubtype="0" fill="hold" grpId="0" nodeType="withEffect">
                                  <p:stCondLst>
                                    <p:cond delay="30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fade">
                                      <p:cBhvr>
                                        <p:cTn id="42" dur="500"/>
                                        <p:tgtEl>
                                          <p:spTgt spid="3">
                                            <p:txEl>
                                              <p:pRg st="10" end="10"/>
                                            </p:txEl>
                                          </p:spTgt>
                                        </p:tgtEl>
                                      </p:cBhvr>
                                    </p:animEffect>
                                  </p:childTnLst>
                                </p:cTn>
                              </p:par>
                              <p:par>
                                <p:cTn id="43" presetID="10" presetClass="entr" presetSubtype="0" fill="hold" grpId="0" nodeType="withEffect">
                                  <p:stCondLst>
                                    <p:cond delay="300"/>
                                  </p:stCondLst>
                                  <p:childTnLst>
                                    <p:set>
                                      <p:cBhvr>
                                        <p:cTn id="44" dur="1" fill="hold">
                                          <p:stCondLst>
                                            <p:cond delay="0"/>
                                          </p:stCondLst>
                                        </p:cTn>
                                        <p:tgtEl>
                                          <p:spTgt spid="3">
                                            <p:txEl>
                                              <p:pRg st="11" end="11"/>
                                            </p:txEl>
                                          </p:spTgt>
                                        </p:tgtEl>
                                        <p:attrNameLst>
                                          <p:attrName>style.visibility</p:attrName>
                                        </p:attrNameLst>
                                      </p:cBhvr>
                                      <p:to>
                                        <p:strVal val="visible"/>
                                      </p:to>
                                    </p:set>
                                    <p:animEffect transition="in" filter="fade">
                                      <p:cBhvr>
                                        <p:cTn id="45" dur="500"/>
                                        <p:tgtEl>
                                          <p:spTgt spid="3">
                                            <p:txEl>
                                              <p:pRg st="11" end="11"/>
                                            </p:txEl>
                                          </p:spTgt>
                                        </p:tgtEl>
                                      </p:cBhvr>
                                    </p:animEffect>
                                  </p:childTnLst>
                                </p:cTn>
                              </p:par>
                              <p:par>
                                <p:cTn id="46" presetID="10" presetClass="entr" presetSubtype="0" fill="hold" grpId="0" nodeType="withEffect">
                                  <p:stCondLst>
                                    <p:cond delay="300"/>
                                  </p:stCondLst>
                                  <p:childTnLst>
                                    <p:set>
                                      <p:cBhvr>
                                        <p:cTn id="47" dur="1" fill="hold">
                                          <p:stCondLst>
                                            <p:cond delay="0"/>
                                          </p:stCondLst>
                                        </p:cTn>
                                        <p:tgtEl>
                                          <p:spTgt spid="3">
                                            <p:txEl>
                                              <p:pRg st="12" end="12"/>
                                            </p:txEl>
                                          </p:spTgt>
                                        </p:tgtEl>
                                        <p:attrNameLst>
                                          <p:attrName>style.visibility</p:attrName>
                                        </p:attrNameLst>
                                      </p:cBhvr>
                                      <p:to>
                                        <p:strVal val="visible"/>
                                      </p:to>
                                    </p:set>
                                    <p:animEffect transition="in" filter="fade">
                                      <p:cBhvr>
                                        <p:cTn id="48" dur="500"/>
                                        <p:tgtEl>
                                          <p:spTgt spid="3">
                                            <p:txEl>
                                              <p:pRg st="12" end="12"/>
                                            </p:txEl>
                                          </p:spTgt>
                                        </p:tgtEl>
                                      </p:cBhvr>
                                    </p:animEffect>
                                  </p:childTnLst>
                                </p:cTn>
                              </p:par>
                              <p:par>
                                <p:cTn id="49" presetID="10" presetClass="entr" presetSubtype="0" fill="hold" grpId="0" nodeType="withEffect">
                                  <p:stCondLst>
                                    <p:cond delay="300"/>
                                  </p:stCondLst>
                                  <p:childTnLst>
                                    <p:set>
                                      <p:cBhvr>
                                        <p:cTn id="50" dur="1" fill="hold">
                                          <p:stCondLst>
                                            <p:cond delay="0"/>
                                          </p:stCondLst>
                                        </p:cTn>
                                        <p:tgtEl>
                                          <p:spTgt spid="3">
                                            <p:txEl>
                                              <p:pRg st="13" end="13"/>
                                            </p:txEl>
                                          </p:spTgt>
                                        </p:tgtEl>
                                        <p:attrNameLst>
                                          <p:attrName>style.visibility</p:attrName>
                                        </p:attrNameLst>
                                      </p:cBhvr>
                                      <p:to>
                                        <p:strVal val="visible"/>
                                      </p:to>
                                    </p:set>
                                    <p:animEffect transition="in" filter="fade">
                                      <p:cBhvr>
                                        <p:cTn id="51" dur="500"/>
                                        <p:tgtEl>
                                          <p:spTgt spid="3">
                                            <p:txEl>
                                              <p:pRg st="13" end="13"/>
                                            </p:txEl>
                                          </p:spTgt>
                                        </p:tgtEl>
                                      </p:cBhvr>
                                    </p:animEffect>
                                  </p:childTnLst>
                                </p:cTn>
                              </p:par>
                              <p:par>
                                <p:cTn id="52" presetID="10" presetClass="entr" presetSubtype="0" fill="hold" grpId="0" nodeType="withEffect">
                                  <p:stCondLst>
                                    <p:cond delay="300"/>
                                  </p:stCondLst>
                                  <p:childTnLst>
                                    <p:set>
                                      <p:cBhvr>
                                        <p:cTn id="53" dur="1" fill="hold">
                                          <p:stCondLst>
                                            <p:cond delay="0"/>
                                          </p:stCondLst>
                                        </p:cTn>
                                        <p:tgtEl>
                                          <p:spTgt spid="3">
                                            <p:txEl>
                                              <p:pRg st="14" end="14"/>
                                            </p:txEl>
                                          </p:spTgt>
                                        </p:tgtEl>
                                        <p:attrNameLst>
                                          <p:attrName>style.visibility</p:attrName>
                                        </p:attrNameLst>
                                      </p:cBhvr>
                                      <p:to>
                                        <p:strVal val="visible"/>
                                      </p:to>
                                    </p:set>
                                    <p:animEffect transition="in" filter="fade">
                                      <p:cBhvr>
                                        <p:cTn id="54"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C8BC31-05FB-C7BB-0B83-F1688B33EA74}"/>
              </a:ext>
            </a:extLst>
          </p:cNvPr>
          <p:cNvSpPr>
            <a:spLocks noGrp="1"/>
          </p:cNvSpPr>
          <p:nvPr>
            <p:ph idx="1"/>
          </p:nvPr>
        </p:nvSpPr>
        <p:spPr>
          <a:xfrm>
            <a:off x="0" y="1"/>
            <a:ext cx="12079705" cy="6793832"/>
          </a:xfrm>
        </p:spPr>
        <p:txBody>
          <a:bodyPr>
            <a:noAutofit/>
          </a:bodyPr>
          <a:lstStyle/>
          <a:p>
            <a:r>
              <a:rPr lang="en-US" sz="1520" b="1" dirty="0"/>
              <a:t>AI Workflow</a:t>
            </a:r>
            <a:endParaRPr lang="en-IN" sz="1520" b="1" dirty="0"/>
          </a:p>
          <a:p>
            <a:pPr marL="742950" lvl="2" indent="-285750">
              <a:buFont typeface="Arial" panose="020B0604020202020204" pitchFamily="34" charset="0"/>
              <a:buChar char="•"/>
            </a:pPr>
            <a:r>
              <a:rPr lang="en-IN" sz="1520" dirty="0"/>
              <a:t>The literature review has investigated the integration of AI into SIEM platforms by developing an AI-based SIEM security email alert system that transforms alerts into structured investigation summaries (</a:t>
            </a:r>
            <a:r>
              <a:rPr lang="en-IN" sz="1520" i="1" dirty="0" err="1"/>
              <a:t>Chyun</a:t>
            </a:r>
            <a:r>
              <a:rPr lang="en-IN" sz="1520" i="1" dirty="0"/>
              <a:t> Horng Chi)</a:t>
            </a:r>
            <a:endParaRPr lang="en-IN" sz="1520" dirty="0"/>
          </a:p>
          <a:p>
            <a:pPr marL="742950" lvl="2" indent="-285750">
              <a:buFont typeface="Arial" panose="020B0604020202020204" pitchFamily="34" charset="0"/>
              <a:buChar char="•"/>
            </a:pPr>
            <a:r>
              <a:rPr lang="en-IN" sz="1520" dirty="0"/>
              <a:t>Attackers using AI techniques for automated reconnaissance and phishing campaigns must be proportionate to the incorporation of defensive AI capabilities to </a:t>
            </a:r>
            <a:r>
              <a:rPr lang="en-IN" sz="1520" dirty="0" err="1"/>
              <a:t>analyze</a:t>
            </a:r>
            <a:r>
              <a:rPr lang="en-IN" sz="1520" dirty="0"/>
              <a:t> security events at the same speed as these threats.</a:t>
            </a:r>
          </a:p>
          <a:p>
            <a:pPr marL="742950" lvl="2" indent="-285750">
              <a:buFont typeface="Arial" panose="020B0604020202020204" pitchFamily="34" charset="0"/>
              <a:buChar char="•"/>
            </a:pPr>
            <a:r>
              <a:rPr lang="en-IN" sz="1520" dirty="0"/>
              <a:t>Developed a SIEM security email alert system capable of automatically converting raw SIEM log data into structured and customised security reports</a:t>
            </a:r>
          </a:p>
          <a:p>
            <a:pPr marL="742950" lvl="2" indent="-285750">
              <a:buFont typeface="Arial" panose="020B0604020202020204" pitchFamily="34" charset="0"/>
              <a:buChar char="•"/>
            </a:pPr>
            <a:r>
              <a:rPr lang="en-IN" sz="1520" dirty="0"/>
              <a:t>limitation: it primarily focuses on post-detection reporting instead of addressing the complete end-to-end incident response lifecycle</a:t>
            </a:r>
          </a:p>
          <a:p>
            <a:pPr marL="742950" lvl="2" indent="-285750">
              <a:buFont typeface="Arial" panose="020B0604020202020204" pitchFamily="34" charset="0"/>
              <a:buChar char="•"/>
            </a:pPr>
            <a:r>
              <a:rPr lang="en-IN" sz="1520" dirty="0"/>
              <a:t>the </a:t>
            </a:r>
            <a:r>
              <a:rPr lang="en-IN" sz="1520" b="1" dirty="0"/>
              <a:t>CAM 4 data breach, </a:t>
            </a:r>
            <a:r>
              <a:rPr lang="en-IN" sz="1520" dirty="0"/>
              <a:t>which approximately exposed 10.88 billion records publicly accessible to everyone due to a new misconfiguration in the Elasticsearch database lacking authentication controls. </a:t>
            </a:r>
          </a:p>
          <a:p>
            <a:pPr marL="742950" lvl="2" indent="-285750">
              <a:buFont typeface="Arial" panose="020B0604020202020204" pitchFamily="34" charset="0"/>
              <a:buChar char="•"/>
            </a:pPr>
            <a:r>
              <a:rPr lang="en-IN" sz="1520" dirty="0"/>
              <a:t> AI should not just automate response actions such as alert escalation, notification  yet it should be capable of continuously analysing, correlating and prioritising events in real time. </a:t>
            </a:r>
          </a:p>
          <a:p>
            <a:pPr marL="742950" lvl="2" indent="-285750">
              <a:buFont typeface="Arial" panose="020B0604020202020204" pitchFamily="34" charset="0"/>
              <a:buChar char="•"/>
            </a:pPr>
            <a:endParaRPr lang="en-IN" sz="1520" dirty="0"/>
          </a:p>
          <a:p>
            <a:r>
              <a:rPr lang="en-US" sz="1520" b="1" dirty="0"/>
              <a:t>Zero Trust Architecture</a:t>
            </a:r>
          </a:p>
          <a:p>
            <a:pPr marL="514350" lvl="1" indent="-285750">
              <a:buFont typeface="Arial" panose="020B0604020202020204" pitchFamily="34" charset="0"/>
              <a:buChar char="•"/>
            </a:pPr>
            <a:r>
              <a:rPr lang="en-IN" sz="1520" dirty="0"/>
              <a:t>Existing research explain( </a:t>
            </a:r>
            <a:r>
              <a:rPr lang="en-IN" sz="1520" dirty="0" err="1"/>
              <a:t>Narasapa</a:t>
            </a:r>
            <a:r>
              <a:rPr lang="en-IN" sz="1520" dirty="0"/>
              <a:t>):Zero Trust + Machine Learning + SOAR </a:t>
            </a:r>
          </a:p>
          <a:p>
            <a:pPr marL="514350" lvl="1" indent="-285750">
              <a:buFont typeface="Arial" panose="020B0604020202020204" pitchFamily="34" charset="0"/>
              <a:buChar char="•"/>
            </a:pPr>
            <a:r>
              <a:rPr lang="en-IN" sz="1520" dirty="0"/>
              <a:t>Collecting contextual and behavioural information about users and devices, such as location, device, time, login behaviour</a:t>
            </a:r>
          </a:p>
          <a:p>
            <a:pPr marL="514350" lvl="1" indent="-285750">
              <a:buFont typeface="Arial" panose="020B0604020202020204" pitchFamily="34" charset="0"/>
              <a:buChar char="•"/>
            </a:pPr>
            <a:r>
              <a:rPr lang="en-IN" sz="1520" dirty="0"/>
              <a:t>RAAC to  calculate how risky an access request is,  Isolation Forest to identify unusual behaviour ,</a:t>
            </a:r>
            <a:r>
              <a:rPr lang="en-IN" sz="1520" b="1" dirty="0"/>
              <a:t>SOAR component  terminates a</a:t>
            </a:r>
            <a:r>
              <a:rPr lang="en-IN" sz="1520" dirty="0"/>
              <a:t>utomatically </a:t>
            </a:r>
          </a:p>
          <a:p>
            <a:pPr marL="514350" lvl="1" indent="-285750">
              <a:buFont typeface="Arial" panose="020B0604020202020204" pitchFamily="34" charset="0"/>
              <a:buChar char="•"/>
            </a:pPr>
            <a:r>
              <a:rPr lang="en-IN" sz="1520" dirty="0"/>
              <a:t>ML identifies suspicious behaviour → Zero Trust evaluates the access risk → SOAR automatically responds.</a:t>
            </a:r>
          </a:p>
          <a:p>
            <a:pPr marL="514350" lvl="1" indent="-285750">
              <a:buFont typeface="Arial" panose="020B0604020202020204" pitchFamily="34" charset="0"/>
              <a:buChar char="•"/>
            </a:pPr>
            <a:r>
              <a:rPr lang="en-IN" sz="1520" dirty="0"/>
              <a:t>Limitation dynamic access control and endpoint security Focusing on adaptive access control and automated endpoint response yet  no Elastic SIEM alerts through Tines AI Like This research</a:t>
            </a:r>
          </a:p>
          <a:p>
            <a:pPr lvl="1"/>
            <a:endParaRPr lang="en-IN" sz="1520" b="1" dirty="0"/>
          </a:p>
          <a:p>
            <a:endParaRPr lang="en-IN" sz="1520" dirty="0"/>
          </a:p>
        </p:txBody>
      </p:sp>
    </p:spTree>
    <p:extLst>
      <p:ext uri="{BB962C8B-B14F-4D97-AF65-F5344CB8AC3E}">
        <p14:creationId xmlns:p14="http://schemas.microsoft.com/office/powerpoint/2010/main" val="350493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2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20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grpId="0" nodeType="withEffect">
                                  <p:stCondLst>
                                    <p:cond delay="20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par>
                                <p:cTn id="23" presetID="10" presetClass="entr" presetSubtype="0" fill="hold" grpId="0" nodeType="withEffect">
                                  <p:stCondLst>
                                    <p:cond delay="20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200"/>
                                  </p:stCondLst>
                                  <p:childTnLst>
                                    <p:set>
                                      <p:cBhvr>
                                        <p:cTn id="29" dur="1" fill="hold">
                                          <p:stCondLst>
                                            <p:cond delay="0"/>
                                          </p:stCondLst>
                                        </p:cTn>
                                        <p:tgtEl>
                                          <p:spTgt spid="3">
                                            <p:txEl>
                                              <p:pRg st="8" end="8"/>
                                            </p:txEl>
                                          </p:spTgt>
                                        </p:tgtEl>
                                        <p:attrNameLst>
                                          <p:attrName>style.visibility</p:attrName>
                                        </p:attrNameLst>
                                      </p:cBhvr>
                                      <p:to>
                                        <p:strVal val="visible"/>
                                      </p:to>
                                    </p:set>
                                    <p:animEffect transition="in" filter="fade">
                                      <p:cBhvr>
                                        <p:cTn id="30" dur="500"/>
                                        <p:tgtEl>
                                          <p:spTgt spid="3">
                                            <p:txEl>
                                              <p:pRg st="8" end="8"/>
                                            </p:txEl>
                                          </p:spTgt>
                                        </p:tgtEl>
                                      </p:cBhvr>
                                    </p:animEffect>
                                  </p:childTnLst>
                                </p:cTn>
                              </p:par>
                              <p:par>
                                <p:cTn id="31" presetID="10" presetClass="entr" presetSubtype="0" fill="hold" grpId="0" nodeType="withEffect">
                                  <p:stCondLst>
                                    <p:cond delay="200"/>
                                  </p:stCondLst>
                                  <p:childTnLst>
                                    <p:set>
                                      <p:cBhvr>
                                        <p:cTn id="32" dur="1" fill="hold">
                                          <p:stCondLst>
                                            <p:cond delay="0"/>
                                          </p:stCondLst>
                                        </p:cTn>
                                        <p:tgtEl>
                                          <p:spTgt spid="3">
                                            <p:txEl>
                                              <p:pRg st="9" end="9"/>
                                            </p:txEl>
                                          </p:spTgt>
                                        </p:tgtEl>
                                        <p:attrNameLst>
                                          <p:attrName>style.visibility</p:attrName>
                                        </p:attrNameLst>
                                      </p:cBhvr>
                                      <p:to>
                                        <p:strVal val="visible"/>
                                      </p:to>
                                    </p:set>
                                    <p:animEffect transition="in" filter="fade">
                                      <p:cBhvr>
                                        <p:cTn id="33" dur="500"/>
                                        <p:tgtEl>
                                          <p:spTgt spid="3">
                                            <p:txEl>
                                              <p:pRg st="9" end="9"/>
                                            </p:txEl>
                                          </p:spTgt>
                                        </p:tgtEl>
                                      </p:cBhvr>
                                    </p:animEffect>
                                  </p:childTnLst>
                                </p:cTn>
                              </p:par>
                              <p:par>
                                <p:cTn id="34" presetID="10" presetClass="entr" presetSubtype="0" fill="hold" grpId="0" nodeType="withEffect">
                                  <p:stCondLst>
                                    <p:cond delay="200"/>
                                  </p:stCondLst>
                                  <p:childTnLst>
                                    <p:set>
                                      <p:cBhvr>
                                        <p:cTn id="35" dur="1" fill="hold">
                                          <p:stCondLst>
                                            <p:cond delay="0"/>
                                          </p:stCondLst>
                                        </p:cTn>
                                        <p:tgtEl>
                                          <p:spTgt spid="3">
                                            <p:txEl>
                                              <p:pRg st="10" end="10"/>
                                            </p:txEl>
                                          </p:spTgt>
                                        </p:tgtEl>
                                        <p:attrNameLst>
                                          <p:attrName>style.visibility</p:attrName>
                                        </p:attrNameLst>
                                      </p:cBhvr>
                                      <p:to>
                                        <p:strVal val="visible"/>
                                      </p:to>
                                    </p:set>
                                    <p:animEffect transition="in" filter="fade">
                                      <p:cBhvr>
                                        <p:cTn id="36" dur="500"/>
                                        <p:tgtEl>
                                          <p:spTgt spid="3">
                                            <p:txEl>
                                              <p:pRg st="10" end="10"/>
                                            </p:txEl>
                                          </p:spTgt>
                                        </p:tgtEl>
                                      </p:cBhvr>
                                    </p:animEffect>
                                  </p:childTnLst>
                                </p:cTn>
                              </p:par>
                              <p:par>
                                <p:cTn id="37" presetID="10" presetClass="entr" presetSubtype="0" fill="hold" grpId="0" nodeType="withEffect">
                                  <p:stCondLst>
                                    <p:cond delay="200"/>
                                  </p:stCondLst>
                                  <p:childTnLst>
                                    <p:set>
                                      <p:cBhvr>
                                        <p:cTn id="38" dur="1" fill="hold">
                                          <p:stCondLst>
                                            <p:cond delay="0"/>
                                          </p:stCondLst>
                                        </p:cTn>
                                        <p:tgtEl>
                                          <p:spTgt spid="3">
                                            <p:txEl>
                                              <p:pRg st="11" end="11"/>
                                            </p:txEl>
                                          </p:spTgt>
                                        </p:tgtEl>
                                        <p:attrNameLst>
                                          <p:attrName>style.visibility</p:attrName>
                                        </p:attrNameLst>
                                      </p:cBhvr>
                                      <p:to>
                                        <p:strVal val="visible"/>
                                      </p:to>
                                    </p:set>
                                    <p:animEffect transition="in" filter="fade">
                                      <p:cBhvr>
                                        <p:cTn id="39" dur="500"/>
                                        <p:tgtEl>
                                          <p:spTgt spid="3">
                                            <p:txEl>
                                              <p:pRg st="11" end="11"/>
                                            </p:txEl>
                                          </p:spTgt>
                                        </p:tgtEl>
                                      </p:cBhvr>
                                    </p:animEffect>
                                  </p:childTnLst>
                                </p:cTn>
                              </p:par>
                              <p:par>
                                <p:cTn id="40" presetID="10" presetClass="entr" presetSubtype="0" fill="hold" grpId="0" nodeType="withEffect">
                                  <p:stCondLst>
                                    <p:cond delay="200"/>
                                  </p:stCondLst>
                                  <p:childTnLst>
                                    <p:set>
                                      <p:cBhvr>
                                        <p:cTn id="41" dur="1" fill="hold">
                                          <p:stCondLst>
                                            <p:cond delay="0"/>
                                          </p:stCondLst>
                                        </p:cTn>
                                        <p:tgtEl>
                                          <p:spTgt spid="3">
                                            <p:txEl>
                                              <p:pRg st="12" end="12"/>
                                            </p:txEl>
                                          </p:spTgt>
                                        </p:tgtEl>
                                        <p:attrNameLst>
                                          <p:attrName>style.visibility</p:attrName>
                                        </p:attrNameLst>
                                      </p:cBhvr>
                                      <p:to>
                                        <p:strVal val="visible"/>
                                      </p:to>
                                    </p:set>
                                    <p:animEffect transition="in" filter="fade">
                                      <p:cBhvr>
                                        <p:cTn id="42" dur="500"/>
                                        <p:tgtEl>
                                          <p:spTgt spid="3">
                                            <p:txEl>
                                              <p:pRg st="12" end="12"/>
                                            </p:txEl>
                                          </p:spTgt>
                                        </p:tgtEl>
                                      </p:cBhvr>
                                    </p:animEffect>
                                  </p:childTnLst>
                                </p:cTn>
                              </p:par>
                              <p:par>
                                <p:cTn id="43" presetID="10" presetClass="entr" presetSubtype="0" fill="hold" grpId="0" nodeType="withEffect">
                                  <p:stCondLst>
                                    <p:cond delay="200"/>
                                  </p:stCondLst>
                                  <p:childTnLst>
                                    <p:set>
                                      <p:cBhvr>
                                        <p:cTn id="44" dur="1" fill="hold">
                                          <p:stCondLst>
                                            <p:cond delay="0"/>
                                          </p:stCondLst>
                                        </p:cTn>
                                        <p:tgtEl>
                                          <p:spTgt spid="3">
                                            <p:txEl>
                                              <p:pRg st="13" end="13"/>
                                            </p:txEl>
                                          </p:spTgt>
                                        </p:tgtEl>
                                        <p:attrNameLst>
                                          <p:attrName>style.visibility</p:attrName>
                                        </p:attrNameLst>
                                      </p:cBhvr>
                                      <p:to>
                                        <p:strVal val="visible"/>
                                      </p:to>
                                    </p:set>
                                    <p:animEffect transition="in" filter="fade">
                                      <p:cBhvr>
                                        <p:cTn id="45"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0F9E5-6BAB-1038-1FFA-67A40DD9DA9A}"/>
              </a:ext>
            </a:extLst>
          </p:cNvPr>
          <p:cNvSpPr>
            <a:spLocks noGrp="1"/>
          </p:cNvSpPr>
          <p:nvPr>
            <p:ph type="title"/>
          </p:nvPr>
        </p:nvSpPr>
        <p:spPr>
          <a:xfrm>
            <a:off x="124012" y="175047"/>
            <a:ext cx="9942409" cy="876193"/>
          </a:xfrm>
        </p:spPr>
        <p:txBody>
          <a:bodyPr/>
          <a:lstStyle/>
          <a:p>
            <a:r>
              <a:rPr lang="en-US" dirty="0"/>
              <a:t>Objectives</a:t>
            </a:r>
            <a:endParaRPr lang="en-IN" dirty="0"/>
          </a:p>
        </p:txBody>
      </p:sp>
      <p:sp>
        <p:nvSpPr>
          <p:cNvPr id="3" name="Content Placeholder 2">
            <a:extLst>
              <a:ext uri="{FF2B5EF4-FFF2-40B4-BE49-F238E27FC236}">
                <a16:creationId xmlns:a16="http://schemas.microsoft.com/office/drawing/2014/main" id="{F1C081D3-892B-5230-D35C-7BD6F17D0561}"/>
              </a:ext>
            </a:extLst>
          </p:cNvPr>
          <p:cNvSpPr>
            <a:spLocks noGrp="1"/>
          </p:cNvSpPr>
          <p:nvPr>
            <p:ph idx="1"/>
          </p:nvPr>
        </p:nvSpPr>
        <p:spPr>
          <a:xfrm>
            <a:off x="0" y="617620"/>
            <a:ext cx="12192000" cy="6240379"/>
          </a:xfrm>
        </p:spPr>
        <p:txBody>
          <a:bodyPr>
            <a:normAutofit fontScale="40000" lnSpcReduction="20000"/>
          </a:bodyPr>
          <a:lstStyle/>
          <a:p>
            <a:r>
              <a:rPr lang="en-IN" sz="3500" b="1" dirty="0"/>
              <a:t>Objective 1: To design and implement AI-driven SOC workflow </a:t>
            </a:r>
            <a:endParaRPr lang="en-IN" sz="3500" dirty="0"/>
          </a:p>
          <a:p>
            <a:r>
              <a:rPr lang="en-IN" sz="3500" dirty="0"/>
              <a:t>To design and develop an  automated SoC workflow by integrating an AWS EC2 instance with Elastic SIEM and the Tines AI workflow automation tool for real-time log collection and security monitoring. </a:t>
            </a:r>
          </a:p>
          <a:p>
            <a:r>
              <a:rPr lang="en-IN" sz="3500" dirty="0"/>
              <a:t> </a:t>
            </a:r>
          </a:p>
          <a:p>
            <a:r>
              <a:rPr lang="en-IN" sz="3500" b="1" dirty="0"/>
              <a:t>Objective 2: Implementation of Rule-Based Detection for privileged Account activity </a:t>
            </a:r>
            <a:endParaRPr lang="en-IN" sz="3500" dirty="0"/>
          </a:p>
          <a:p>
            <a:r>
              <a:rPr lang="en-IN" sz="3500" dirty="0"/>
              <a:t>The purpose of this objective is to implement custom detection rules in Elastic SIEM </a:t>
            </a:r>
          </a:p>
          <a:p>
            <a:r>
              <a:rPr lang="en-IN" sz="3500" b="1" dirty="0"/>
              <a:t>Objective 3: Establishment of Webhook Integration Between Elastic SIEM and Tines</a:t>
            </a:r>
            <a:endParaRPr lang="en-IN" sz="3500" dirty="0"/>
          </a:p>
          <a:p>
            <a:r>
              <a:rPr lang="en-IN" sz="3500" dirty="0"/>
              <a:t>This objective aims to establish an HTTP web integration between Elastic SIEM and Tines to transfer the security alerts from the Elastic SIEM dashboard to Tines for AI-driven workflow.</a:t>
            </a:r>
          </a:p>
          <a:p>
            <a:r>
              <a:rPr lang="en-IN" sz="3500" dirty="0"/>
              <a:t> </a:t>
            </a:r>
          </a:p>
          <a:p>
            <a:r>
              <a:rPr lang="en-IN" sz="3500" b="1" dirty="0"/>
              <a:t>Objective 4: Evaluation of Zero Trust Policy Enforcement and Endpoint Behavioural Control</a:t>
            </a:r>
            <a:endParaRPr lang="en-IN" sz="3500" dirty="0"/>
          </a:p>
          <a:p>
            <a:r>
              <a:rPr lang="en-IN" sz="3500" dirty="0"/>
              <a:t>The aim of this objective is to explore how Zero Trust policy enforcement and endpoint behavioural control can prevent unauthorised application execution and minimise exposure to zero-day vulnerabilities on cloud endpoints through application control, storage control, and ringfencing.</a:t>
            </a:r>
          </a:p>
          <a:p>
            <a:r>
              <a:rPr lang="en-IN" sz="3500" b="1" dirty="0"/>
              <a:t>Objective 5: Implementation of Rule-Based Threat Detection Using Event ID 4672</a:t>
            </a:r>
            <a:endParaRPr lang="en-IN" sz="3500" dirty="0"/>
          </a:p>
          <a:p>
            <a:r>
              <a:rPr lang="en-IN" sz="3500" dirty="0"/>
              <a:t>This objective emphasizes  on  establishing  a rule-based detection approach that will use event code 4672 to detect login attempts to the cloud endpoint and then produce security warnings based on their severity.</a:t>
            </a:r>
          </a:p>
          <a:p>
            <a:r>
              <a:rPr lang="en-IN" sz="3500" b="1" dirty="0"/>
              <a:t>Objective 6: AI-driven SOC alert transformation and analyst workflow optimization </a:t>
            </a:r>
            <a:endParaRPr lang="en-IN" sz="3500" dirty="0"/>
          </a:p>
          <a:p>
            <a:r>
              <a:rPr lang="en-IN" sz="3500" dirty="0"/>
              <a:t>This aim focuses on the establishment of an AI-driven security workflow automation that will convert raw SIEM alerts into structured, human-readable incident intelligence and automatically deliver them to security analysts through email notifications. This would reduce the requirement for security analysts to manually handle warnings.</a:t>
            </a:r>
          </a:p>
          <a:p>
            <a:endParaRPr lang="en-IN" dirty="0"/>
          </a:p>
        </p:txBody>
      </p:sp>
    </p:spTree>
    <p:extLst>
      <p:ext uri="{BB962C8B-B14F-4D97-AF65-F5344CB8AC3E}">
        <p14:creationId xmlns:p14="http://schemas.microsoft.com/office/powerpoint/2010/main" val="1020951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2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20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20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20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additive="base">
                                        <p:cTn id="2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200"/>
                                  </p:stCondLst>
                                  <p:childTnLst>
                                    <p:set>
                                      <p:cBhvr>
                                        <p:cTn id="28" dur="1" fill="hold">
                                          <p:stCondLst>
                                            <p:cond delay="0"/>
                                          </p:stCondLst>
                                        </p:cTn>
                                        <p:tgtEl>
                                          <p:spTgt spid="3">
                                            <p:txEl>
                                              <p:pRg st="3" end="3"/>
                                            </p:txEl>
                                          </p:spTgt>
                                        </p:tgtEl>
                                        <p:attrNameLst>
                                          <p:attrName>style.visibility</p:attrName>
                                        </p:attrNameLst>
                                      </p:cBhvr>
                                      <p:to>
                                        <p:strVal val="visible"/>
                                      </p:to>
                                    </p:set>
                                    <p:anim calcmode="lin" valueType="num">
                                      <p:cBhvr additive="base">
                                        <p:cTn id="2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20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additive="base">
                                        <p:cTn id="3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200"/>
                                  </p:stCondLst>
                                  <p:childTnLst>
                                    <p:set>
                                      <p:cBhvr>
                                        <p:cTn id="40" dur="1" fill="hold">
                                          <p:stCondLst>
                                            <p:cond delay="0"/>
                                          </p:stCondLst>
                                        </p:cTn>
                                        <p:tgtEl>
                                          <p:spTgt spid="3">
                                            <p:txEl>
                                              <p:pRg st="5" end="5"/>
                                            </p:txEl>
                                          </p:spTgt>
                                        </p:tgtEl>
                                        <p:attrNameLst>
                                          <p:attrName>style.visibility</p:attrName>
                                        </p:attrNameLst>
                                      </p:cBhvr>
                                      <p:to>
                                        <p:strVal val="visible"/>
                                      </p:to>
                                    </p:set>
                                    <p:anim calcmode="lin" valueType="num">
                                      <p:cBhvr additive="base">
                                        <p:cTn id="4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200"/>
                                  </p:stCondLst>
                                  <p:childTnLst>
                                    <p:set>
                                      <p:cBhvr>
                                        <p:cTn id="46" dur="1" fill="hold">
                                          <p:stCondLst>
                                            <p:cond delay="0"/>
                                          </p:stCondLst>
                                        </p:cTn>
                                        <p:tgtEl>
                                          <p:spTgt spid="3">
                                            <p:txEl>
                                              <p:pRg st="6" end="6"/>
                                            </p:txEl>
                                          </p:spTgt>
                                        </p:tgtEl>
                                        <p:attrNameLst>
                                          <p:attrName>style.visibility</p:attrName>
                                        </p:attrNameLst>
                                      </p:cBhvr>
                                      <p:to>
                                        <p:strVal val="visible"/>
                                      </p:to>
                                    </p:set>
                                    <p:anim calcmode="lin" valueType="num">
                                      <p:cBhvr additive="base">
                                        <p:cTn id="4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200"/>
                                  </p:stCondLst>
                                  <p:childTnLst>
                                    <p:set>
                                      <p:cBhvr>
                                        <p:cTn id="52" dur="1" fill="hold">
                                          <p:stCondLst>
                                            <p:cond delay="0"/>
                                          </p:stCondLst>
                                        </p:cTn>
                                        <p:tgtEl>
                                          <p:spTgt spid="3">
                                            <p:txEl>
                                              <p:pRg st="7" end="7"/>
                                            </p:txEl>
                                          </p:spTgt>
                                        </p:tgtEl>
                                        <p:attrNameLst>
                                          <p:attrName>style.visibility</p:attrName>
                                        </p:attrNameLst>
                                      </p:cBhvr>
                                      <p:to>
                                        <p:strVal val="visible"/>
                                      </p:to>
                                    </p:set>
                                    <p:anim calcmode="lin" valueType="num">
                                      <p:cBhvr additive="base">
                                        <p:cTn id="5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200"/>
                                  </p:stCondLst>
                                  <p:childTnLst>
                                    <p:set>
                                      <p:cBhvr>
                                        <p:cTn id="58" dur="1" fill="hold">
                                          <p:stCondLst>
                                            <p:cond delay="0"/>
                                          </p:stCondLst>
                                        </p:cTn>
                                        <p:tgtEl>
                                          <p:spTgt spid="3">
                                            <p:txEl>
                                              <p:pRg st="8" end="8"/>
                                            </p:txEl>
                                          </p:spTgt>
                                        </p:tgtEl>
                                        <p:attrNameLst>
                                          <p:attrName>style.visibility</p:attrName>
                                        </p:attrNameLst>
                                      </p:cBhvr>
                                      <p:to>
                                        <p:strVal val="visible"/>
                                      </p:to>
                                    </p:set>
                                    <p:anim calcmode="lin" valueType="num">
                                      <p:cBhvr additive="base">
                                        <p:cTn id="5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200"/>
                                  </p:stCondLst>
                                  <p:childTnLst>
                                    <p:set>
                                      <p:cBhvr>
                                        <p:cTn id="64" dur="1" fill="hold">
                                          <p:stCondLst>
                                            <p:cond delay="0"/>
                                          </p:stCondLst>
                                        </p:cTn>
                                        <p:tgtEl>
                                          <p:spTgt spid="3">
                                            <p:txEl>
                                              <p:pRg st="9" end="9"/>
                                            </p:txEl>
                                          </p:spTgt>
                                        </p:tgtEl>
                                        <p:attrNameLst>
                                          <p:attrName>style.visibility</p:attrName>
                                        </p:attrNameLst>
                                      </p:cBhvr>
                                      <p:to>
                                        <p:strVal val="visible"/>
                                      </p:to>
                                    </p:set>
                                    <p:anim calcmode="lin" valueType="num">
                                      <p:cBhvr additive="base">
                                        <p:cTn id="6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200"/>
                                  </p:stCondLst>
                                  <p:childTnLst>
                                    <p:set>
                                      <p:cBhvr>
                                        <p:cTn id="70" dur="1" fill="hold">
                                          <p:stCondLst>
                                            <p:cond delay="0"/>
                                          </p:stCondLst>
                                        </p:cTn>
                                        <p:tgtEl>
                                          <p:spTgt spid="3">
                                            <p:txEl>
                                              <p:pRg st="10" end="10"/>
                                            </p:txEl>
                                          </p:spTgt>
                                        </p:tgtEl>
                                        <p:attrNameLst>
                                          <p:attrName>style.visibility</p:attrName>
                                        </p:attrNameLst>
                                      </p:cBhvr>
                                      <p:to>
                                        <p:strVal val="visible"/>
                                      </p:to>
                                    </p:set>
                                    <p:anim calcmode="lin" valueType="num">
                                      <p:cBhvr additive="base">
                                        <p:cTn id="7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200"/>
                                  </p:stCondLst>
                                  <p:childTnLst>
                                    <p:set>
                                      <p:cBhvr>
                                        <p:cTn id="76" dur="1" fill="hold">
                                          <p:stCondLst>
                                            <p:cond delay="0"/>
                                          </p:stCondLst>
                                        </p:cTn>
                                        <p:tgtEl>
                                          <p:spTgt spid="3">
                                            <p:txEl>
                                              <p:pRg st="11" end="11"/>
                                            </p:txEl>
                                          </p:spTgt>
                                        </p:tgtEl>
                                        <p:attrNameLst>
                                          <p:attrName>style.visibility</p:attrName>
                                        </p:attrNameLst>
                                      </p:cBhvr>
                                      <p:to>
                                        <p:strVal val="visible"/>
                                      </p:to>
                                    </p:set>
                                    <p:anim calcmode="lin" valueType="num">
                                      <p:cBhvr additive="base">
                                        <p:cTn id="7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200"/>
                                  </p:stCondLst>
                                  <p:childTnLst>
                                    <p:set>
                                      <p:cBhvr>
                                        <p:cTn id="82" dur="1" fill="hold">
                                          <p:stCondLst>
                                            <p:cond delay="0"/>
                                          </p:stCondLst>
                                        </p:cTn>
                                        <p:tgtEl>
                                          <p:spTgt spid="3">
                                            <p:txEl>
                                              <p:pRg st="12" end="12"/>
                                            </p:txEl>
                                          </p:spTgt>
                                        </p:tgtEl>
                                        <p:attrNameLst>
                                          <p:attrName>style.visibility</p:attrName>
                                        </p:attrNameLst>
                                      </p:cBhvr>
                                      <p:to>
                                        <p:strVal val="visible"/>
                                      </p:to>
                                    </p:set>
                                    <p:anim calcmode="lin" valueType="num">
                                      <p:cBhvr additive="base">
                                        <p:cTn id="83"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84"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grpId="0" nodeType="clickEffect">
                                  <p:stCondLst>
                                    <p:cond delay="200"/>
                                  </p:stCondLst>
                                  <p:childTnLst>
                                    <p:set>
                                      <p:cBhvr>
                                        <p:cTn id="88" dur="1" fill="hold">
                                          <p:stCondLst>
                                            <p:cond delay="0"/>
                                          </p:stCondLst>
                                        </p:cTn>
                                        <p:tgtEl>
                                          <p:spTgt spid="3">
                                            <p:txEl>
                                              <p:pRg st="13" end="13"/>
                                            </p:txEl>
                                          </p:spTgt>
                                        </p:tgtEl>
                                        <p:attrNameLst>
                                          <p:attrName>style.visibility</p:attrName>
                                        </p:attrNameLst>
                                      </p:cBhvr>
                                      <p:to>
                                        <p:strVal val="visible"/>
                                      </p:to>
                                    </p:set>
                                    <p:anim calcmode="lin" valueType="num">
                                      <p:cBhvr additive="base">
                                        <p:cTn id="89"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90"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50FD4-9D5D-5692-BCF1-AA775C581F10}"/>
              </a:ext>
            </a:extLst>
          </p:cNvPr>
          <p:cNvSpPr>
            <a:spLocks noGrp="1"/>
          </p:cNvSpPr>
          <p:nvPr>
            <p:ph type="title"/>
          </p:nvPr>
        </p:nvSpPr>
        <p:spPr>
          <a:xfrm>
            <a:off x="702733" y="0"/>
            <a:ext cx="10515600" cy="1325563"/>
          </a:xfrm>
        </p:spPr>
        <p:txBody>
          <a:bodyPr/>
          <a:lstStyle/>
          <a:p>
            <a:r>
              <a:rPr lang="en-US" dirty="0"/>
              <a:t>Proposed Architecture Design</a:t>
            </a:r>
            <a:br>
              <a:rPr lang="en-US" dirty="0"/>
            </a:br>
            <a:endParaRPr lang="en-IN" dirty="0"/>
          </a:p>
        </p:txBody>
      </p:sp>
      <p:sp>
        <p:nvSpPr>
          <p:cNvPr id="3" name="Content Placeholder 2">
            <a:extLst>
              <a:ext uri="{FF2B5EF4-FFF2-40B4-BE49-F238E27FC236}">
                <a16:creationId xmlns:a16="http://schemas.microsoft.com/office/drawing/2014/main" id="{AA92858F-63CF-EAFC-DB6E-82D2705B374E}"/>
              </a:ext>
            </a:extLst>
          </p:cNvPr>
          <p:cNvSpPr>
            <a:spLocks noGrp="1"/>
          </p:cNvSpPr>
          <p:nvPr>
            <p:ph idx="1"/>
          </p:nvPr>
        </p:nvSpPr>
        <p:spPr>
          <a:xfrm>
            <a:off x="173566" y="481012"/>
            <a:ext cx="11844867" cy="5895975"/>
          </a:xfrm>
        </p:spPr>
        <p:txBody>
          <a:bodyPr>
            <a:normAutofit/>
          </a:bodyPr>
          <a:lstStyle/>
          <a:p>
            <a:pPr marL="0" indent="0">
              <a:buNone/>
            </a:pPr>
            <a:r>
              <a:rPr lang="en-US" sz="2000" dirty="0"/>
              <a:t>The proposed architecture is displayed in two phases</a:t>
            </a:r>
          </a:p>
          <a:p>
            <a:pPr marL="0" indent="0">
              <a:buNone/>
            </a:pPr>
            <a:r>
              <a:rPr lang="en-US" sz="2000" dirty="0"/>
              <a:t>Phase1:</a:t>
            </a:r>
          </a:p>
        </p:txBody>
      </p:sp>
      <p:pic>
        <p:nvPicPr>
          <p:cNvPr id="5" name="Picture 4">
            <a:extLst>
              <a:ext uri="{FF2B5EF4-FFF2-40B4-BE49-F238E27FC236}">
                <a16:creationId xmlns:a16="http://schemas.microsoft.com/office/drawing/2014/main" id="{D948F37C-269E-798D-B3FC-D2EAF710C1D5}"/>
              </a:ext>
            </a:extLst>
          </p:cNvPr>
          <p:cNvPicPr>
            <a:picLocks noChangeAspect="1"/>
          </p:cNvPicPr>
          <p:nvPr/>
        </p:nvPicPr>
        <p:blipFill>
          <a:blip r:embed="rId2"/>
          <a:stretch>
            <a:fillRect/>
          </a:stretch>
        </p:blipFill>
        <p:spPr>
          <a:xfrm>
            <a:off x="1209040" y="967711"/>
            <a:ext cx="10809393" cy="5854885"/>
          </a:xfrm>
          <a:prstGeom prst="rect">
            <a:avLst/>
          </a:prstGeom>
        </p:spPr>
      </p:pic>
    </p:spTree>
    <p:extLst>
      <p:ext uri="{BB962C8B-B14F-4D97-AF65-F5344CB8AC3E}">
        <p14:creationId xmlns:p14="http://schemas.microsoft.com/office/powerpoint/2010/main" val="2743386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p:cTn id="12"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p:cTn id="19"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21" dur="500"/>
                                        <p:tgtEl>
                                          <p:spTgt spid="3">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300"/>
                                  </p:stCondLst>
                                  <p:childTnLst>
                                    <p:set>
                                      <p:cBhvr>
                                        <p:cTn id="25" dur="1" fill="hold">
                                          <p:stCondLst>
                                            <p:cond delay="0"/>
                                          </p:stCondLst>
                                        </p:cTn>
                                        <p:tgtEl>
                                          <p:spTgt spid="5"/>
                                        </p:tgtEl>
                                        <p:attrNameLst>
                                          <p:attrName>style.visibility</p:attrName>
                                        </p:attrNameLst>
                                      </p:cBhvr>
                                      <p:to>
                                        <p:strVal val="visible"/>
                                      </p:to>
                                    </p:set>
                                    <p:anim calcmode="lin" valueType="num">
                                      <p:cBhvr>
                                        <p:cTn id="26" dur="500" fill="hold"/>
                                        <p:tgtEl>
                                          <p:spTgt spid="5"/>
                                        </p:tgtEl>
                                        <p:attrNameLst>
                                          <p:attrName>ppt_w</p:attrName>
                                        </p:attrNameLst>
                                      </p:cBhvr>
                                      <p:tavLst>
                                        <p:tav tm="0">
                                          <p:val>
                                            <p:fltVal val="0"/>
                                          </p:val>
                                        </p:tav>
                                        <p:tav tm="100000">
                                          <p:val>
                                            <p:strVal val="#ppt_w"/>
                                          </p:val>
                                        </p:tav>
                                      </p:tavLst>
                                    </p:anim>
                                    <p:anim calcmode="lin" valueType="num">
                                      <p:cBhvr>
                                        <p:cTn id="27" dur="500" fill="hold"/>
                                        <p:tgtEl>
                                          <p:spTgt spid="5"/>
                                        </p:tgtEl>
                                        <p:attrNameLst>
                                          <p:attrName>ppt_h</p:attrName>
                                        </p:attrNameLst>
                                      </p:cBhvr>
                                      <p:tavLst>
                                        <p:tav tm="0">
                                          <p:val>
                                            <p:fltVal val="0"/>
                                          </p:val>
                                        </p:tav>
                                        <p:tav tm="100000">
                                          <p:val>
                                            <p:strVal val="#ppt_h"/>
                                          </p:val>
                                        </p:tav>
                                      </p:tavLst>
                                    </p:anim>
                                    <p:animEffect transition="in" filter="fade">
                                      <p:cBhvr>
                                        <p:cTn id="2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81E5B-49F5-48FA-5484-A91DCF73FB8D}"/>
              </a:ext>
            </a:extLst>
          </p:cNvPr>
          <p:cNvSpPr>
            <a:spLocks noGrp="1"/>
          </p:cNvSpPr>
          <p:nvPr>
            <p:ph type="title"/>
          </p:nvPr>
        </p:nvSpPr>
        <p:spPr>
          <a:xfrm flipV="1">
            <a:off x="1224280" y="-371792"/>
            <a:ext cx="10515600" cy="45719"/>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857CA08E-52A9-62A8-E817-B9E0A1B330A7}"/>
              </a:ext>
            </a:extLst>
          </p:cNvPr>
          <p:cNvSpPr>
            <a:spLocks noGrp="1"/>
          </p:cNvSpPr>
          <p:nvPr>
            <p:ph idx="1"/>
          </p:nvPr>
        </p:nvSpPr>
        <p:spPr>
          <a:xfrm>
            <a:off x="132080" y="137157"/>
            <a:ext cx="11221720" cy="6039806"/>
          </a:xfrm>
        </p:spPr>
        <p:txBody>
          <a:bodyPr/>
          <a:lstStyle/>
          <a:p>
            <a:r>
              <a:rPr lang="en-US" dirty="0"/>
              <a:t>Phase 2 </a:t>
            </a:r>
            <a:endParaRPr lang="en-IN" dirty="0"/>
          </a:p>
        </p:txBody>
      </p:sp>
      <p:pic>
        <p:nvPicPr>
          <p:cNvPr id="5" name="Picture 4" descr="The image illustrates a complex cybersecurity system with components like administration, detection rules, threat analysis, and endpoint security, featuring various tools such as SIEM, firewall, and endpoint connectors, and includes processes for normalization and monitoring of various activities.&#10;&#10;AI-generated content may be incorrect.">
            <a:extLst>
              <a:ext uri="{FF2B5EF4-FFF2-40B4-BE49-F238E27FC236}">
                <a16:creationId xmlns:a16="http://schemas.microsoft.com/office/drawing/2014/main" id="{790C19ED-B296-7DD1-FEF6-334D23F083D8}"/>
              </a:ext>
            </a:extLst>
          </p:cNvPr>
          <p:cNvPicPr>
            <a:picLocks noChangeAspect="1"/>
          </p:cNvPicPr>
          <p:nvPr/>
        </p:nvPicPr>
        <p:blipFill>
          <a:blip r:embed="rId2"/>
          <a:stretch>
            <a:fillRect/>
          </a:stretch>
        </p:blipFill>
        <p:spPr>
          <a:xfrm>
            <a:off x="0" y="514866"/>
            <a:ext cx="12192000" cy="6343134"/>
          </a:xfrm>
          <a:prstGeom prst="rect">
            <a:avLst/>
          </a:prstGeom>
        </p:spPr>
      </p:pic>
    </p:spTree>
    <p:extLst>
      <p:ext uri="{BB962C8B-B14F-4D97-AF65-F5344CB8AC3E}">
        <p14:creationId xmlns:p14="http://schemas.microsoft.com/office/powerpoint/2010/main" val="3248790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heel(1)">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20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087EB-9B39-4A25-CCD8-ABBE98BB0765}"/>
              </a:ext>
            </a:extLst>
          </p:cNvPr>
          <p:cNvSpPr>
            <a:spLocks noGrp="1"/>
          </p:cNvSpPr>
          <p:nvPr>
            <p:ph type="title"/>
          </p:nvPr>
        </p:nvSpPr>
        <p:spPr/>
        <p:txBody>
          <a:bodyPr/>
          <a:lstStyle/>
          <a:p>
            <a:r>
              <a:rPr lang="en-US" dirty="0"/>
              <a:t>Steps</a:t>
            </a:r>
            <a:endParaRPr lang="en-IN" dirty="0"/>
          </a:p>
        </p:txBody>
      </p:sp>
      <p:sp>
        <p:nvSpPr>
          <p:cNvPr id="3" name="Content Placeholder 2">
            <a:extLst>
              <a:ext uri="{FF2B5EF4-FFF2-40B4-BE49-F238E27FC236}">
                <a16:creationId xmlns:a16="http://schemas.microsoft.com/office/drawing/2014/main" id="{16E6B23B-3A6C-8546-8C51-09352E9C802D}"/>
              </a:ext>
            </a:extLst>
          </p:cNvPr>
          <p:cNvSpPr>
            <a:spLocks noGrp="1"/>
          </p:cNvSpPr>
          <p:nvPr>
            <p:ph idx="1"/>
          </p:nvPr>
        </p:nvSpPr>
        <p:spPr/>
        <p:txBody>
          <a:bodyPr>
            <a:normAutofit/>
          </a:bodyPr>
          <a:lstStyle/>
          <a:p>
            <a:r>
              <a:rPr lang="en-IN" sz="2000" dirty="0"/>
              <a:t>Layer 1- Cloud Endpoint</a:t>
            </a:r>
          </a:p>
          <a:p>
            <a:r>
              <a:rPr lang="en-IN" sz="2000" dirty="0"/>
              <a:t>Layer 2- Endpoint Detection and Response</a:t>
            </a:r>
          </a:p>
          <a:p>
            <a:r>
              <a:rPr lang="en-IN" sz="2000" dirty="0"/>
              <a:t>Layer 3- Security Information and Event Management</a:t>
            </a:r>
          </a:p>
          <a:p>
            <a:r>
              <a:rPr lang="en-IN" sz="2000" dirty="0"/>
              <a:t>Layer 4 -AI-Driven Workflow Automation </a:t>
            </a:r>
          </a:p>
          <a:p>
            <a:r>
              <a:rPr lang="en-IN" sz="2000" dirty="0"/>
              <a:t>Layer 5 represents a Zero Trust endpoint solution.</a:t>
            </a:r>
            <a:br>
              <a:rPr lang="en-IN" sz="2000" dirty="0"/>
            </a:br>
            <a:endParaRPr lang="en-IN" sz="2000" dirty="0"/>
          </a:p>
        </p:txBody>
      </p:sp>
    </p:spTree>
    <p:extLst>
      <p:ext uri="{BB962C8B-B14F-4D97-AF65-F5344CB8AC3E}">
        <p14:creationId xmlns:p14="http://schemas.microsoft.com/office/powerpoint/2010/main" val="2764084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fade">
                                      <p:cBhvr>
                                        <p:cTn id="24" dur="1000"/>
                                        <p:tgtEl>
                                          <p:spTgt spid="3">
                                            <p:txEl>
                                              <p:pRg st="2" end="2"/>
                                            </p:txEl>
                                          </p:spTgt>
                                        </p:tgtEl>
                                      </p:cBhvr>
                                    </p:animEffect>
                                    <p:anim calcmode="lin" valueType="num">
                                      <p:cBhvr>
                                        <p:cTn id="2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fade">
                                      <p:cBhvr>
                                        <p:cTn id="29" dur="1000"/>
                                        <p:tgtEl>
                                          <p:spTgt spid="3">
                                            <p:txEl>
                                              <p:pRg st="3" end="3"/>
                                            </p:txEl>
                                          </p:spTgt>
                                        </p:tgtEl>
                                      </p:cBhvr>
                                    </p:animEffect>
                                    <p:anim calcmode="lin" valueType="num">
                                      <p:cBhvr>
                                        <p:cTn id="3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fade">
                                      <p:cBhvr>
                                        <p:cTn id="34" dur="1000"/>
                                        <p:tgtEl>
                                          <p:spTgt spid="3">
                                            <p:txEl>
                                              <p:pRg st="4" end="4"/>
                                            </p:txEl>
                                          </p:spTgt>
                                        </p:tgtEl>
                                      </p:cBhvr>
                                    </p:animEffect>
                                    <p:anim calcmode="lin" valueType="num">
                                      <p:cBhvr>
                                        <p:cTn id="3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16AB3-9F36-A6D2-2570-E73D2A008FA0}"/>
              </a:ext>
            </a:extLst>
          </p:cNvPr>
          <p:cNvSpPr>
            <a:spLocks noGrp="1"/>
          </p:cNvSpPr>
          <p:nvPr>
            <p:ph type="title"/>
          </p:nvPr>
        </p:nvSpPr>
        <p:spPr/>
        <p:txBody>
          <a:bodyPr/>
          <a:lstStyle/>
          <a:p>
            <a:endParaRPr lang="en-IN" dirty="0"/>
          </a:p>
        </p:txBody>
      </p:sp>
      <p:pic>
        <p:nvPicPr>
          <p:cNvPr id="41" name="Content Placeholder 40">
            <a:extLst>
              <a:ext uri="{FF2B5EF4-FFF2-40B4-BE49-F238E27FC236}">
                <a16:creationId xmlns:a16="http://schemas.microsoft.com/office/drawing/2014/main" id="{D4C67B87-39F5-B06D-F1E1-E4222FB317BC}"/>
              </a:ext>
            </a:extLst>
          </p:cNvPr>
          <p:cNvPicPr>
            <a:picLocks noGrp="1" noChangeAspect="1"/>
          </p:cNvPicPr>
          <p:nvPr>
            <p:ph idx="1"/>
          </p:nvPr>
        </p:nvPicPr>
        <p:blipFill>
          <a:blip r:embed="rId2"/>
          <a:stretch>
            <a:fillRect/>
          </a:stretch>
        </p:blipFill>
        <p:spPr>
          <a:xfrm>
            <a:off x="0" y="151369"/>
            <a:ext cx="12319000" cy="6555262"/>
          </a:xfrm>
          <a:prstGeom prst="rect">
            <a:avLst/>
          </a:prstGeom>
        </p:spPr>
      </p:pic>
    </p:spTree>
    <p:extLst>
      <p:ext uri="{BB962C8B-B14F-4D97-AF65-F5344CB8AC3E}">
        <p14:creationId xmlns:p14="http://schemas.microsoft.com/office/powerpoint/2010/main" val="25175484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7420C-B4F7-2B1C-C221-14D4CB066D7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386B313-4FA9-DE58-6484-B299E7987389}"/>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FA4B8FBA-663F-202C-CD3D-362392360BD7}"/>
              </a:ext>
            </a:extLst>
          </p:cNvPr>
          <p:cNvPicPr>
            <a:picLocks noChangeAspect="1"/>
          </p:cNvPicPr>
          <p:nvPr/>
        </p:nvPicPr>
        <p:blipFill>
          <a:blip r:embed="rId2"/>
          <a:stretch>
            <a:fillRect/>
          </a:stretch>
        </p:blipFill>
        <p:spPr>
          <a:xfrm>
            <a:off x="182044" y="419100"/>
            <a:ext cx="11827914" cy="6019800"/>
          </a:xfrm>
          <a:prstGeom prst="rect">
            <a:avLst/>
          </a:prstGeom>
        </p:spPr>
      </p:pic>
    </p:spTree>
    <p:extLst>
      <p:ext uri="{BB962C8B-B14F-4D97-AF65-F5344CB8AC3E}">
        <p14:creationId xmlns:p14="http://schemas.microsoft.com/office/powerpoint/2010/main" val="4756566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83D82-0A69-25DB-717F-F52938E6A039}"/>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9FA08AD6-DC1A-CE4E-52DF-848990FC3A7C}"/>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794D102D-D749-9AC9-305F-5C6EEF019BB8}"/>
              </a:ext>
            </a:extLst>
          </p:cNvPr>
          <p:cNvPicPr>
            <a:picLocks noChangeAspect="1"/>
          </p:cNvPicPr>
          <p:nvPr/>
        </p:nvPicPr>
        <p:blipFill>
          <a:blip r:embed="rId2"/>
          <a:stretch>
            <a:fillRect/>
          </a:stretch>
        </p:blipFill>
        <p:spPr>
          <a:xfrm>
            <a:off x="524933" y="160866"/>
            <a:ext cx="10583334" cy="6509503"/>
          </a:xfrm>
          <a:prstGeom prst="rect">
            <a:avLst/>
          </a:prstGeom>
        </p:spPr>
      </p:pic>
    </p:spTree>
    <p:extLst>
      <p:ext uri="{BB962C8B-B14F-4D97-AF65-F5344CB8AC3E}">
        <p14:creationId xmlns:p14="http://schemas.microsoft.com/office/powerpoint/2010/main" val="20334496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2CBC4-5DDD-EFC4-5117-0A297677E756}"/>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61449EEF-6E7C-9A97-933E-D680AF075EEF}"/>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82ED8466-5725-BC4D-CDA9-C2A5AA48CD06}"/>
              </a:ext>
            </a:extLst>
          </p:cNvPr>
          <p:cNvPicPr>
            <a:picLocks noChangeAspect="1"/>
          </p:cNvPicPr>
          <p:nvPr/>
        </p:nvPicPr>
        <p:blipFill>
          <a:blip r:embed="rId2"/>
          <a:stretch>
            <a:fillRect/>
          </a:stretch>
        </p:blipFill>
        <p:spPr>
          <a:xfrm>
            <a:off x="897467" y="179508"/>
            <a:ext cx="8064288" cy="6434633"/>
          </a:xfrm>
          <a:prstGeom prst="rect">
            <a:avLst/>
          </a:prstGeom>
        </p:spPr>
      </p:pic>
    </p:spTree>
    <p:extLst>
      <p:ext uri="{BB962C8B-B14F-4D97-AF65-F5344CB8AC3E}">
        <p14:creationId xmlns:p14="http://schemas.microsoft.com/office/powerpoint/2010/main" val="3617461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EE3E1-423A-8BF5-225D-AF5BAD21E23F}"/>
              </a:ext>
            </a:extLst>
          </p:cNvPr>
          <p:cNvSpPr>
            <a:spLocks noGrp="1"/>
          </p:cNvSpPr>
          <p:nvPr>
            <p:ph type="title"/>
          </p:nvPr>
        </p:nvSpPr>
        <p:spPr/>
        <p:txBody>
          <a:bodyPr/>
          <a:lstStyle/>
          <a:p>
            <a:endParaRPr lang="en-IN" dirty="0"/>
          </a:p>
        </p:txBody>
      </p:sp>
      <p:pic>
        <p:nvPicPr>
          <p:cNvPr id="6" name="Content Placeholder 5">
            <a:extLst>
              <a:ext uri="{FF2B5EF4-FFF2-40B4-BE49-F238E27FC236}">
                <a16:creationId xmlns:a16="http://schemas.microsoft.com/office/drawing/2014/main" id="{CA2D2284-6849-6D0F-DC09-9994C98D785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59584" y="946484"/>
            <a:ext cx="4173890" cy="5695821"/>
          </a:xfrm>
          <a:prstGeom prst="rect">
            <a:avLst/>
          </a:prstGeom>
          <a:noFill/>
          <a:ln>
            <a:noFill/>
          </a:ln>
        </p:spPr>
      </p:pic>
    </p:spTree>
    <p:extLst>
      <p:ext uri="{BB962C8B-B14F-4D97-AF65-F5344CB8AC3E}">
        <p14:creationId xmlns:p14="http://schemas.microsoft.com/office/powerpoint/2010/main" val="4465213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42222-F749-07F3-182E-391A785158EA}"/>
              </a:ext>
            </a:extLst>
          </p:cNvPr>
          <p:cNvSpPr>
            <a:spLocks noGrp="1"/>
          </p:cNvSpPr>
          <p:nvPr>
            <p:ph type="title"/>
          </p:nvPr>
        </p:nvSpPr>
        <p:spPr/>
        <p:txBody>
          <a:bodyPr/>
          <a:lstStyle/>
          <a:p>
            <a:r>
              <a:rPr lang="en-US" dirty="0"/>
              <a:t>Evaluation</a:t>
            </a:r>
            <a:endParaRPr lang="en-IN" dirty="0"/>
          </a:p>
        </p:txBody>
      </p:sp>
      <p:sp>
        <p:nvSpPr>
          <p:cNvPr id="3" name="Content Placeholder 2">
            <a:extLst>
              <a:ext uri="{FF2B5EF4-FFF2-40B4-BE49-F238E27FC236}">
                <a16:creationId xmlns:a16="http://schemas.microsoft.com/office/drawing/2014/main" id="{89F31591-9DC5-5993-51B2-5CA1DC7493F4}"/>
              </a:ext>
            </a:extLst>
          </p:cNvPr>
          <p:cNvSpPr>
            <a:spLocks noGrp="1"/>
          </p:cNvSpPr>
          <p:nvPr>
            <p:ph idx="1"/>
          </p:nvPr>
        </p:nvSpPr>
        <p:spPr/>
        <p:txBody>
          <a:bodyPr>
            <a:normAutofit/>
          </a:bodyPr>
          <a:lstStyle/>
          <a:p>
            <a:r>
              <a:rPr lang="en-IN" sz="2000" dirty="0"/>
              <a:t>Extending Traditional SOC Workflows in cloud infrastructures</a:t>
            </a:r>
          </a:p>
          <a:p>
            <a:r>
              <a:rPr lang="en-IN" sz="2000" dirty="0"/>
              <a:t>Implementation of the Principle of Least Privilege and Defence in Depth</a:t>
            </a:r>
          </a:p>
          <a:p>
            <a:endParaRPr lang="en-IN" sz="2000" dirty="0"/>
          </a:p>
          <a:p>
            <a:endParaRPr lang="en-IN" sz="2000" dirty="0"/>
          </a:p>
        </p:txBody>
      </p:sp>
    </p:spTree>
    <p:extLst>
      <p:ext uri="{BB962C8B-B14F-4D97-AF65-F5344CB8AC3E}">
        <p14:creationId xmlns:p14="http://schemas.microsoft.com/office/powerpoint/2010/main" val="1160486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C8FB2-D0A2-0902-F8F0-43000B737B4D}"/>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F44B1514-1BBE-7B39-2038-739F81CBF933}"/>
              </a:ext>
            </a:extLst>
          </p:cNvPr>
          <p:cNvSpPr>
            <a:spLocks noGrp="1"/>
          </p:cNvSpPr>
          <p:nvPr>
            <p:ph idx="1"/>
          </p:nvPr>
        </p:nvSpPr>
        <p:spPr>
          <a:xfrm>
            <a:off x="309101" y="1551606"/>
            <a:ext cx="9942409" cy="4305300"/>
          </a:xfrm>
        </p:spPr>
        <p:txBody>
          <a:bodyPr>
            <a:noAutofit/>
          </a:bodyPr>
          <a:lstStyle/>
          <a:p>
            <a:r>
              <a:rPr lang="en-IN" sz="2000" dirty="0"/>
              <a:t>This proposed model demonstrated the integration of AI-driven workflow automation in Elastic SIEM with zero-trust endpoint controls to enhance cloud-based security operations </a:t>
            </a:r>
            <a:r>
              <a:rPr lang="en-IN" sz="2000" dirty="0" err="1"/>
              <a:t>center</a:t>
            </a:r>
            <a:r>
              <a:rPr lang="en-IN" sz="2000" dirty="0"/>
              <a:t> workflows. </a:t>
            </a:r>
          </a:p>
          <a:p>
            <a:r>
              <a:rPr lang="en-IN" sz="2000" dirty="0"/>
              <a:t>Integrating Elastic with Tines' AI workflow automation tool helps SOC workflows by transforming security alerts into structured investigation summaries that reduce manual alert analysis carried out by SOC teams.</a:t>
            </a:r>
          </a:p>
          <a:p>
            <a:r>
              <a:rPr lang="en-IN" sz="2000" dirty="0"/>
              <a:t>Although </a:t>
            </a:r>
            <a:r>
              <a:rPr lang="en-IN" sz="2000" dirty="0" err="1"/>
              <a:t>ThreatLocker</a:t>
            </a:r>
            <a:r>
              <a:rPr lang="en-IN" sz="2000" dirty="0"/>
              <a:t> could not be fully demonstrated because of licensing limitations, the research critically evaluates its controls, such as default-deny architecture, application allowlisting, ring fencing, and storage control for implementing zero-trust endpoint protection. </a:t>
            </a:r>
          </a:p>
          <a:p>
            <a:r>
              <a:rPr lang="en-IN" sz="2000" dirty="0"/>
              <a:t>Overall this study helps us understand how cloud environments can be more adaptive, resilient, and intelligent when facing cyber threats by combining AI and zero-trust architecture to mitigate those threats.</a:t>
            </a:r>
          </a:p>
          <a:p>
            <a:endParaRPr lang="en-IN" sz="2000" dirty="0"/>
          </a:p>
        </p:txBody>
      </p:sp>
    </p:spTree>
    <p:extLst>
      <p:ext uri="{BB962C8B-B14F-4D97-AF65-F5344CB8AC3E}">
        <p14:creationId xmlns:p14="http://schemas.microsoft.com/office/powerpoint/2010/main" val="1377515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ppt_x"/>
                                          </p:val>
                                        </p:tav>
                                        <p:tav tm="100000">
                                          <p:val>
                                            <p:strVal val="#ppt_x"/>
                                          </p:val>
                                        </p:tav>
                                      </p:tavLst>
                                    </p:anim>
                                    <p:anim calcmode="lin" valueType="num">
                                      <p:cBhvr additive="base">
                                        <p:cTn id="8" dur="10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20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500"/>
                                        <p:tgtEl>
                                          <p:spTgt spid="3">
                                            <p:txEl>
                                              <p:pRg st="0" end="0"/>
                                            </p:txEl>
                                          </p:spTgt>
                                        </p:tgtEl>
                                      </p:cBhvr>
                                    </p:animEffect>
                                  </p:childTnLst>
                                </p:cTn>
                              </p:par>
                              <p:par>
                                <p:cTn id="14" presetID="10" presetClass="entr" presetSubtype="0" fill="hold" nodeType="withEffect">
                                  <p:stCondLst>
                                    <p:cond delay="20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fade">
                                      <p:cBhvr>
                                        <p:cTn id="16" dur="500"/>
                                        <p:tgtEl>
                                          <p:spTgt spid="3">
                                            <p:txEl>
                                              <p:pRg st="1" end="1"/>
                                            </p:txEl>
                                          </p:spTgt>
                                        </p:tgtEl>
                                      </p:cBhvr>
                                    </p:animEffect>
                                  </p:childTnLst>
                                </p:cTn>
                              </p:par>
                              <p:par>
                                <p:cTn id="17" presetID="10" presetClass="entr" presetSubtype="0" fill="hold" nodeType="withEffect">
                                  <p:stCondLst>
                                    <p:cond delay="20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500"/>
                                        <p:tgtEl>
                                          <p:spTgt spid="3">
                                            <p:txEl>
                                              <p:pRg st="2" end="2"/>
                                            </p:txEl>
                                          </p:spTgt>
                                        </p:tgtEl>
                                      </p:cBhvr>
                                    </p:animEffect>
                                  </p:childTnLst>
                                </p:cTn>
                              </p:par>
                              <p:par>
                                <p:cTn id="20" presetID="10" presetClass="entr" presetSubtype="0" fill="hold" nodeType="withEffect">
                                  <p:stCondLst>
                                    <p:cond delay="20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99D3E-1EA3-55B5-B6DE-59864D24AFCB}"/>
              </a:ext>
            </a:extLst>
          </p:cNvPr>
          <p:cNvSpPr>
            <a:spLocks noGrp="1"/>
          </p:cNvSpPr>
          <p:nvPr>
            <p:ph type="title"/>
          </p:nvPr>
        </p:nvSpPr>
        <p:spPr>
          <a:xfrm>
            <a:off x="429416" y="190643"/>
            <a:ext cx="9942409" cy="876193"/>
          </a:xfrm>
        </p:spPr>
        <p:txBody>
          <a:bodyPr/>
          <a:lstStyle/>
          <a:p>
            <a:r>
              <a:rPr lang="en-US" dirty="0"/>
              <a:t>References</a:t>
            </a:r>
            <a:endParaRPr lang="en-IN" dirty="0"/>
          </a:p>
        </p:txBody>
      </p:sp>
      <p:sp>
        <p:nvSpPr>
          <p:cNvPr id="3" name="Content Placeholder 2">
            <a:extLst>
              <a:ext uri="{FF2B5EF4-FFF2-40B4-BE49-F238E27FC236}">
                <a16:creationId xmlns:a16="http://schemas.microsoft.com/office/drawing/2014/main" id="{7CA49161-4165-BA0C-AD2C-D5EAB7C400E0}"/>
              </a:ext>
            </a:extLst>
          </p:cNvPr>
          <p:cNvSpPr>
            <a:spLocks noGrp="1"/>
          </p:cNvSpPr>
          <p:nvPr>
            <p:ph idx="1"/>
          </p:nvPr>
        </p:nvSpPr>
        <p:spPr>
          <a:xfrm>
            <a:off x="118532" y="567267"/>
            <a:ext cx="12073467" cy="6290733"/>
          </a:xfrm>
        </p:spPr>
        <p:txBody>
          <a:bodyPr>
            <a:noAutofit/>
          </a:bodyPr>
          <a:lstStyle/>
          <a:p>
            <a:r>
              <a:rPr lang="en-IN" sz="1050" dirty="0"/>
              <a:t>Adriano </a:t>
            </a:r>
            <a:r>
              <a:rPr lang="en-IN" sz="1050" dirty="0" err="1"/>
              <a:t>Serckumecka</a:t>
            </a:r>
            <a:r>
              <a:rPr lang="en-IN" sz="1050" dirty="0"/>
              <a:t>, et al. </a:t>
            </a:r>
            <a:r>
              <a:rPr lang="en-IN" sz="1050" i="1" dirty="0"/>
              <a:t>CCE: A Cloud-Based SIEM Correlation Engine Built on Serverless Functions</a:t>
            </a:r>
            <a:r>
              <a:rPr lang="en-IN" sz="1050" dirty="0"/>
              <a:t>. 29 Sept. 2025, pp. 95–105, ieeexplore.ieee.org/stamp/</a:t>
            </a:r>
            <a:r>
              <a:rPr lang="en-IN" sz="1050" dirty="0" err="1"/>
              <a:t>stamp.jsp?tp</a:t>
            </a:r>
            <a:r>
              <a:rPr lang="en-IN" sz="1050" dirty="0"/>
              <a:t>=&amp;</a:t>
            </a:r>
            <a:r>
              <a:rPr lang="en-IN" sz="1050" dirty="0" err="1"/>
              <a:t>arnumber</a:t>
            </a:r>
            <a:r>
              <a:rPr lang="en-IN" sz="1050" dirty="0"/>
              <a:t>=11360458, </a:t>
            </a:r>
            <a:r>
              <a:rPr lang="en-IN" sz="1050" u="sng" dirty="0">
                <a:hlinkClick r:id="rId2"/>
              </a:rPr>
              <a:t>https://doi.org/10.1109/srds69199.2025.00022. Accessed 4 Mar. 2026</a:t>
            </a:r>
            <a:r>
              <a:rPr lang="en-IN" sz="1050" dirty="0"/>
              <a:t>.</a:t>
            </a:r>
          </a:p>
          <a:p>
            <a:r>
              <a:rPr lang="en-IN" sz="1050" dirty="0"/>
              <a:t>Anupa, J., and K. Chandra Sekaran. “Cloud Workflow and Security: A Survey.” </a:t>
            </a:r>
            <a:r>
              <a:rPr lang="en-IN" sz="1050" i="1" dirty="0"/>
              <a:t>2014 International Conference on Advances in Computing, Communications and Informatics (ICACCI)</a:t>
            </a:r>
            <a:r>
              <a:rPr lang="en-IN" sz="1050" dirty="0"/>
              <a:t>, Sept. 2014, pp. 1598–1607, ieeexplore.ieee.org/document/6968496, https://doi.org/10.1109/icacci.2014.6968496. Accessed 7 Jan. 2026.</a:t>
            </a:r>
          </a:p>
          <a:p>
            <a:r>
              <a:rPr lang="en-IN" sz="1050" dirty="0" err="1"/>
              <a:t>Breachsense</a:t>
            </a:r>
            <a:r>
              <a:rPr lang="en-IN" sz="1050" dirty="0"/>
              <a:t>. “Capital One Data Breach: How 106 Million Records Were Stolen.” </a:t>
            </a:r>
            <a:r>
              <a:rPr lang="en-IN" sz="1050" i="1" dirty="0"/>
              <a:t>Breachsense.com</a:t>
            </a:r>
            <a:r>
              <a:rPr lang="en-IN" sz="1050" dirty="0"/>
              <a:t>, 2026, </a:t>
            </a:r>
            <a:r>
              <a:rPr lang="en-IN" sz="1050" u="sng" dirty="0">
                <a:hlinkClick r:id="rId3"/>
              </a:rPr>
              <a:t>www.breachsense.com/blog/capital-one-data-breach-case-study/</a:t>
            </a:r>
            <a:r>
              <a:rPr lang="en-IN" sz="1050" dirty="0"/>
              <a:t>.</a:t>
            </a:r>
          </a:p>
          <a:p>
            <a:r>
              <a:rPr lang="en-IN" sz="1050" dirty="0"/>
              <a:t>Carlson, Teressa. </a:t>
            </a:r>
            <a:r>
              <a:rPr lang="en-IN" sz="1050" i="1" dirty="0"/>
              <a:t>The State of Cloud-Driven Transformation</a:t>
            </a:r>
            <a:r>
              <a:rPr lang="en-IN" sz="1050" dirty="0"/>
              <a:t>.</a:t>
            </a:r>
          </a:p>
          <a:p>
            <a:r>
              <a:rPr lang="en-IN" sz="1050" dirty="0" err="1"/>
              <a:t>Chyun</a:t>
            </a:r>
            <a:r>
              <a:rPr lang="en-IN" sz="1050" dirty="0"/>
              <a:t> Horng Chi, et al. </a:t>
            </a:r>
            <a:r>
              <a:rPr lang="en-IN" sz="1050" i="1" dirty="0"/>
              <a:t>Intelligent-Based SIEM Security Email Alert</a:t>
            </a:r>
            <a:r>
              <a:rPr lang="en-IN" sz="1050" dirty="0"/>
              <a:t>. 23 Aug. 2023, </a:t>
            </a:r>
            <a:r>
              <a:rPr lang="en-IN" sz="1050" u="sng" dirty="0">
                <a:hlinkClick r:id="rId4"/>
              </a:rPr>
              <a:t>https://doi.org/10.1109/icoict58202.2023.10262562</a:t>
            </a:r>
            <a:r>
              <a:rPr lang="en-IN" sz="1050" dirty="0"/>
              <a:t>.</a:t>
            </a:r>
          </a:p>
          <a:p>
            <a:r>
              <a:rPr lang="en-IN" sz="1050" dirty="0"/>
              <a:t>Cinque, Marcello . “Challenges and Directions in Security Information and Event Management (SIEM) - IEEE Conference Publication.” </a:t>
            </a:r>
            <a:r>
              <a:rPr lang="en-IN" sz="1050" i="1" dirty="0"/>
              <a:t>Ieee.org</a:t>
            </a:r>
            <a:r>
              <a:rPr lang="en-IN" sz="1050" dirty="0"/>
              <a:t>, 2018, ieeexplore.ieee.org/stamp/</a:t>
            </a:r>
            <a:r>
              <a:rPr lang="en-IN" sz="1050" dirty="0" err="1"/>
              <a:t>stamp.jsp?tp</a:t>
            </a:r>
            <a:r>
              <a:rPr lang="en-IN" sz="1050" dirty="0"/>
              <a:t>=&amp;</a:t>
            </a:r>
            <a:r>
              <a:rPr lang="en-IN" sz="1050" dirty="0" err="1"/>
              <a:t>arnumber</a:t>
            </a:r>
            <a:r>
              <a:rPr lang="en-IN" sz="1050" dirty="0"/>
              <a:t>=8539170.</a:t>
            </a:r>
          </a:p>
          <a:p>
            <a:r>
              <a:rPr lang="en-IN" sz="1050" dirty="0"/>
              <a:t>FARZAAN. “IEEE Xplore Full-Text PDF”: </a:t>
            </a:r>
            <a:r>
              <a:rPr lang="en-IN" sz="1050" i="1" dirty="0"/>
              <a:t>Ieee.org</a:t>
            </a:r>
            <a:r>
              <a:rPr lang="en-IN" sz="1050" dirty="0"/>
              <a:t>, 2026, ieeexplore.ieee.org/stamp/</a:t>
            </a:r>
            <a:r>
              <a:rPr lang="en-IN" sz="1050" dirty="0" err="1"/>
              <a:t>stamp.jsp?tp</a:t>
            </a:r>
            <a:r>
              <a:rPr lang="en-IN" sz="1050" dirty="0"/>
              <a:t>=&amp;</a:t>
            </a:r>
            <a:r>
              <a:rPr lang="en-IN" sz="1050" dirty="0" err="1"/>
              <a:t>arnumber</a:t>
            </a:r>
            <a:r>
              <a:rPr lang="en-IN" sz="1050" dirty="0"/>
              <a:t>=10979487. Accessed 25 Feb. 2026.</a:t>
            </a:r>
          </a:p>
          <a:p>
            <a:r>
              <a:rPr lang="en-IN" sz="1050" dirty="0"/>
              <a:t>Guha, </a:t>
            </a:r>
            <a:r>
              <a:rPr lang="en-IN" sz="1050" dirty="0" err="1"/>
              <a:t>Debanksh</a:t>
            </a:r>
            <a:r>
              <a:rPr lang="en-IN" sz="1050" dirty="0"/>
              <a:t>, et al. </a:t>
            </a:r>
            <a:r>
              <a:rPr lang="en-IN" sz="1050" i="1" dirty="0"/>
              <a:t>A Practical Implementation of Zero Trust Architecture for Securing Web-Based Applications</a:t>
            </a:r>
            <a:r>
              <a:rPr lang="en-IN" sz="1050" dirty="0"/>
              <a:t>. 16 May 2025, pp. 1–6, https://doi.org/10.1109/assic64892.2025.11158196. Accessed 13 Oct. 2025.</a:t>
            </a:r>
          </a:p>
          <a:p>
            <a:r>
              <a:rPr lang="en-IN" sz="1050" dirty="0"/>
              <a:t>Kim, Dasol, et al. “A Comparative Security Analysis of Storage-Integrated Web Applications in Heterogeneous Cloud Environments.” </a:t>
            </a:r>
            <a:r>
              <a:rPr lang="en-IN" sz="1050" i="1" dirty="0"/>
              <a:t>2025 12th International Conference on Social Networks Analysis, Management and Security (SNAMS)</a:t>
            </a:r>
            <a:r>
              <a:rPr lang="en-IN" sz="1050" dirty="0"/>
              <a:t>, 25 Nov. 2025, pp. 30–37, ieeexplore.ieee.org/stamp/</a:t>
            </a:r>
            <a:r>
              <a:rPr lang="en-IN" sz="1050" dirty="0" err="1"/>
              <a:t>stamp.jsp?tp</a:t>
            </a:r>
            <a:r>
              <a:rPr lang="en-IN" sz="1050" dirty="0"/>
              <a:t>=&amp;</a:t>
            </a:r>
            <a:r>
              <a:rPr lang="en-IN" sz="1050" dirty="0" err="1"/>
              <a:t>arnumber</a:t>
            </a:r>
            <a:r>
              <a:rPr lang="en-IN" sz="1050" dirty="0"/>
              <a:t>=11391049, </a:t>
            </a:r>
            <a:r>
              <a:rPr lang="en-IN" sz="1050" u="sng" dirty="0">
                <a:hlinkClick r:id="rId5"/>
              </a:rPr>
              <a:t>https://doi.org/10.1109/snams67467.2025.11391049. Accessed 4 Mar. 2026</a:t>
            </a:r>
            <a:r>
              <a:rPr lang="en-IN" sz="1050" dirty="0"/>
              <a:t>.</a:t>
            </a:r>
          </a:p>
          <a:p>
            <a:r>
              <a:rPr lang="en-IN" sz="1050" dirty="0"/>
              <a:t>Kotenko, Igor, et al. “Aggregation of Elastic Stack Instruments for Collecting, Storing and Processing of Security Information and Events.” </a:t>
            </a:r>
            <a:r>
              <a:rPr lang="en-IN" sz="1050" i="1" dirty="0"/>
              <a:t>IEEE Xplore</a:t>
            </a:r>
            <a:r>
              <a:rPr lang="en-IN" sz="1050" dirty="0"/>
              <a:t>, 1 Aug. 2017, ieeexplore.ieee.org/abstract/document/8397627. Accessed 21 Aug. 2021.</a:t>
            </a:r>
          </a:p>
          <a:p>
            <a:r>
              <a:rPr lang="en-IN" sz="1050" dirty="0" err="1"/>
              <a:t>Nagababu</a:t>
            </a:r>
            <a:r>
              <a:rPr lang="en-IN" sz="1050" dirty="0"/>
              <a:t> </a:t>
            </a:r>
            <a:r>
              <a:rPr lang="en-IN" sz="1050" dirty="0" err="1"/>
              <a:t>Garigipati</a:t>
            </a:r>
            <a:r>
              <a:rPr lang="en-IN" sz="1050" dirty="0"/>
              <a:t>, et al. </a:t>
            </a:r>
            <a:r>
              <a:rPr lang="en-IN" sz="1050" i="1" dirty="0"/>
              <a:t>A Multi-Layered Hybrid Security Algorithm Based on Integrity for the Cloud Computing Environment</a:t>
            </a:r>
            <a:r>
              <a:rPr lang="en-IN" sz="1050" dirty="0"/>
              <a:t>. 19 July 2023,  https://doi.org/10.1109/icecaa58104.2023.10212405. Accessed 29 Jan. 2024.</a:t>
            </a:r>
          </a:p>
          <a:p>
            <a:r>
              <a:rPr lang="en-IN" sz="1050" dirty="0" err="1"/>
              <a:t>Narasappa</a:t>
            </a:r>
            <a:r>
              <a:rPr lang="en-IN" sz="1050" dirty="0"/>
              <a:t>, </a:t>
            </a:r>
            <a:r>
              <a:rPr lang="en-IN" sz="1050" dirty="0" err="1"/>
              <a:t>Dharnisha</a:t>
            </a:r>
            <a:r>
              <a:rPr lang="en-IN" sz="1050" dirty="0"/>
              <a:t>. “Integrating Zero Trust Architecture with Automation and Analytics for Resilient Cybersecurity.” </a:t>
            </a:r>
            <a:r>
              <a:rPr lang="en-IN" sz="1050" i="1" dirty="0"/>
              <a:t>2025 3rd International Conference on Data Science and Network Security (ICDSNS)</a:t>
            </a:r>
            <a:r>
              <a:rPr lang="en-IN" sz="1050" dirty="0"/>
              <a:t>, 25 July 2025, pp. 1–6, https://doi.org/10.1109/icdsns65743.2025.11168551. Accessed 12 Jan. 2026.</a:t>
            </a:r>
          </a:p>
          <a:p>
            <a:r>
              <a:rPr lang="en-IN" sz="1050" dirty="0"/>
              <a:t>Narayan, Yogendra, et al. </a:t>
            </a:r>
            <a:r>
              <a:rPr lang="en-IN" sz="1050" i="1" dirty="0"/>
              <a:t>Strengthening Network Security through the Implementation of AI-Driven Automated Incident Response Systems</a:t>
            </a:r>
            <a:r>
              <a:rPr lang="en-IN" sz="1050" dirty="0"/>
              <a:t>. 18 Sept. 2025, pp. 1–5, ieeexplore.ieee.org/document/11233253, https://doi.org/10.1109/icccnp63914.2025.11233253. Accessed 7 Jan. 2026.</a:t>
            </a:r>
          </a:p>
          <a:p>
            <a:r>
              <a:rPr lang="en-IN" sz="1050" dirty="0" err="1"/>
              <a:t>Sornalakshmi</a:t>
            </a:r>
            <a:r>
              <a:rPr lang="en-IN" sz="1050" dirty="0"/>
              <a:t>, K. “Detection of DoS Attack and Zero Day Threat with SIEM.” </a:t>
            </a:r>
            <a:r>
              <a:rPr lang="en-IN" sz="1050" i="1" dirty="0"/>
              <a:t>2017 International Conference on Intelligent Computing and Control Systems (ICICCS)</a:t>
            </a:r>
            <a:r>
              <a:rPr lang="en-IN" sz="1050" dirty="0"/>
              <a:t>, June 2017, https://doi.org/10.1109/iccons.2017.8250515. Accessed 19 May 2020.</a:t>
            </a:r>
          </a:p>
          <a:p>
            <a:r>
              <a:rPr lang="en-IN" sz="1050" dirty="0" err="1"/>
              <a:t>Threatlocker</a:t>
            </a:r>
            <a:r>
              <a:rPr lang="en-IN" sz="1050" dirty="0"/>
              <a:t>. “Zero Trust Endpoint Security | </a:t>
            </a:r>
            <a:r>
              <a:rPr lang="en-IN" sz="1050" dirty="0" err="1"/>
              <a:t>ThreatLocker</a:t>
            </a:r>
            <a:r>
              <a:rPr lang="en-IN" sz="1050" dirty="0"/>
              <a:t>, Inc.” </a:t>
            </a:r>
            <a:r>
              <a:rPr lang="en-IN" sz="1050" i="1" dirty="0"/>
              <a:t>Www.threatlocker.com</a:t>
            </a:r>
            <a:r>
              <a:rPr lang="en-IN" sz="1050" dirty="0"/>
              <a:t>, www.threatlocker.com/.</a:t>
            </a:r>
          </a:p>
          <a:p>
            <a:r>
              <a:rPr lang="en-IN" sz="1050" dirty="0"/>
              <a:t>University, </a:t>
            </a:r>
            <a:r>
              <a:rPr lang="en-IN" sz="1050" dirty="0" err="1"/>
              <a:t>Threatlocker</a:t>
            </a:r>
            <a:r>
              <a:rPr lang="en-IN" sz="1050" dirty="0"/>
              <a:t>. “Loading.” </a:t>
            </a:r>
            <a:r>
              <a:rPr lang="en-IN" sz="1050" i="1" dirty="0"/>
              <a:t>Docebosaas.com</a:t>
            </a:r>
            <a:r>
              <a:rPr lang="en-IN" sz="1050" dirty="0"/>
              <a:t>, 2026, threatlocker.docebosaas.com/learn. Accessed 7 Jan. 2026.</a:t>
            </a:r>
          </a:p>
          <a:p>
            <a:r>
              <a:rPr lang="en-IN" sz="1050" dirty="0"/>
              <a:t>Wei, Yu Chih, and Tak Wai Yu. “Zero Trust Framework in Financial Sector: The Handling of Machine Learning Based Trust Management.” </a:t>
            </a:r>
            <a:r>
              <a:rPr lang="en-IN" sz="1050" i="1" dirty="0"/>
              <a:t>IEEE Xplore</a:t>
            </a:r>
            <a:r>
              <a:rPr lang="en-IN" sz="1050" dirty="0"/>
              <a:t>, 1 July 2023, ieeexplore.ieee.org/document/10226959.</a:t>
            </a:r>
          </a:p>
          <a:p>
            <a:endParaRPr lang="en-IN" sz="1050" dirty="0"/>
          </a:p>
        </p:txBody>
      </p:sp>
    </p:spTree>
    <p:extLst>
      <p:ext uri="{BB962C8B-B14F-4D97-AF65-F5344CB8AC3E}">
        <p14:creationId xmlns:p14="http://schemas.microsoft.com/office/powerpoint/2010/main" val="2329917184"/>
      </p:ext>
    </p:extLst>
  </p:cSld>
  <p:clrMapOvr>
    <a:masterClrMapping/>
  </p:clrMapOvr>
</p:sld>
</file>

<file path=ppt/theme/theme1.xml><?xml version="1.0" encoding="utf-8"?>
<a:theme xmlns:a="http://schemas.openxmlformats.org/drawingml/2006/main" name="Film Burn">
  <a:themeElements>
    <a:clrScheme name="Custom 1">
      <a:dk1>
        <a:srgbClr val="09090C"/>
      </a:dk1>
      <a:lt1>
        <a:sysClr val="window" lastClr="FFFFFF"/>
      </a:lt1>
      <a:dk2>
        <a:srgbClr val="000000"/>
      </a:dk2>
      <a:lt2>
        <a:srgbClr val="F9EFEC"/>
      </a:lt2>
      <a:accent1>
        <a:srgbClr val="000000"/>
      </a:accent1>
      <a:accent2>
        <a:srgbClr val="5D246C"/>
      </a:accent2>
      <a:accent3>
        <a:srgbClr val="002060"/>
      </a:accent3>
      <a:accent4>
        <a:srgbClr val="F08E6B"/>
      </a:accent4>
      <a:accent5>
        <a:srgbClr val="D93752"/>
      </a:accent5>
      <a:accent6>
        <a:srgbClr val="EE7345"/>
      </a:accent6>
      <a:hlink>
        <a:srgbClr val="002060"/>
      </a:hlink>
      <a:folHlink>
        <a:srgbClr val="E95D48"/>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lm burn" id="{4524321E-1019-4E52-AA1C-5D37B75CD749}" vid="{4A46179B-AA1B-40E1-9320-430DA2EBD8EF}"/>
    </a:ext>
  </a:extLst>
</a:theme>
</file>

<file path=docProps/app.xml><?xml version="1.0" encoding="utf-8"?>
<Properties xmlns="http://schemas.openxmlformats.org/officeDocument/2006/extended-properties" xmlns:vt="http://schemas.openxmlformats.org/officeDocument/2006/docPropsVTypes">
  <Template>Film Burn</Template>
  <TotalTime>9886</TotalTime>
  <Words>2384</Words>
  <Application>Microsoft Office PowerPoint</Application>
  <PresentationFormat>Widescreen</PresentationFormat>
  <Paragraphs>124</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Aptos</vt:lpstr>
      <vt:lpstr>Aptos Display</vt:lpstr>
      <vt:lpstr>Arial</vt:lpstr>
      <vt:lpstr>Film Burn</vt:lpstr>
      <vt:lpstr>AI-Driven SIEM Workflow Automation and Zero-Trust Endpoint Protection for Securing Cloud Supply Chains </vt:lpstr>
      <vt:lpstr>Table of content</vt:lpstr>
      <vt:lpstr>Introduction</vt:lpstr>
      <vt:lpstr>Background Study</vt:lpstr>
      <vt:lpstr>PowerPoint Presentation</vt:lpstr>
      <vt:lpstr>Literature Review</vt:lpstr>
      <vt:lpstr>PowerPoint Presentation</vt:lpstr>
      <vt:lpstr>PowerPoint Presentation</vt:lpstr>
      <vt:lpstr>Objectives</vt:lpstr>
      <vt:lpstr>Proposed Architecture Design </vt:lpstr>
      <vt:lpstr>PowerPoint Presentation</vt:lpstr>
      <vt:lpstr>Steps</vt:lpstr>
      <vt:lpstr>PowerPoint Presentation</vt:lpstr>
      <vt:lpstr>PowerPoint Presentation</vt:lpstr>
      <vt:lpstr>PowerPoint Presentation</vt:lpstr>
      <vt:lpstr>PowerPoint Presentation</vt:lpstr>
      <vt:lpstr>PowerPoint Presentation</vt:lpstr>
      <vt:lpstr>Evaluation</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muhammed Afnan</dc:creator>
  <cp:lastModifiedBy>muhammed Afnan</cp:lastModifiedBy>
  <cp:revision>2</cp:revision>
  <dcterms:created xsi:type="dcterms:W3CDTF">2026-08-06T16:39:33Z</dcterms:created>
  <dcterms:modified xsi:type="dcterms:W3CDTF">2026-08-19T12:31:17Z</dcterms:modified>
</cp:coreProperties>
</file>